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388" r:id="rId5"/>
    <p:sldId id="256" r:id="rId6"/>
    <p:sldId id="390" r:id="rId7"/>
    <p:sldId id="391" r:id="rId8"/>
    <p:sldId id="392" r:id="rId9"/>
    <p:sldId id="393" r:id="rId10"/>
    <p:sldId id="403" r:id="rId11"/>
    <p:sldId id="395" r:id="rId12"/>
    <p:sldId id="404" r:id="rId13"/>
    <p:sldId id="405" r:id="rId14"/>
    <p:sldId id="407" r:id="rId15"/>
    <p:sldId id="408" r:id="rId16"/>
    <p:sldId id="409" r:id="rId17"/>
    <p:sldId id="406" r:id="rId18"/>
    <p:sldId id="410" r:id="rId19"/>
    <p:sldId id="411" r:id="rId20"/>
    <p:sldId id="40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FB8B50-3E1F-A08D-EDD6-F0D3AE2D4550}" name="Tammy Cornejo" initials="TC" userId="S::tammyc@anitab.org::723a1afd-9868-4de2-822d-e2bc693909e6" providerId="AD"/>
  <p188:author id="{358C79B5-0E44-DCE3-D007-3E9EB4FA0F1E}" name="Mallory Hill" initials="MH" userId="S::malloryh@anitab.org::2276e9e9-ddd2-47cc-a1b8-ddca9f7af1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238E"/>
    <a:srgbClr val="5C2D91"/>
    <a:srgbClr val="005AAA"/>
    <a:srgbClr val="3EBFA1"/>
    <a:srgbClr val="9146E8"/>
    <a:srgbClr val="34B299"/>
    <a:srgbClr val="F1922C"/>
    <a:srgbClr val="3BB79D"/>
    <a:srgbClr val="F8972A"/>
    <a:srgbClr val="FFB8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E4F744-566E-4028-B739-604AD1BAC773}" v="7" dt="2026-06-04T08:27:52.2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55"/>
    <p:restoredTop sz="94638"/>
  </p:normalViewPr>
  <p:slideViewPr>
    <p:cSldViewPr snapToGrid="0">
      <p:cViewPr varScale="1">
        <p:scale>
          <a:sx n="82" d="100"/>
          <a:sy n="82" d="100"/>
        </p:scale>
        <p:origin x="307" y="62"/>
      </p:cViewPr>
      <p:guideLst/>
    </p:cSldViewPr>
  </p:slideViewPr>
  <p:notesTextViewPr>
    <p:cViewPr>
      <p:scale>
        <a:sx n="1" d="1"/>
        <a:sy n="1" d="1"/>
      </p:scale>
      <p:origin x="0" y="0"/>
    </p:cViewPr>
  </p:notesTextViewPr>
  <p:notesViewPr>
    <p:cSldViewPr snapToGrid="0">
      <p:cViewPr>
        <p:scale>
          <a:sx n="1" d="2"/>
          <a:sy n="1" d="2"/>
        </p:scale>
        <p:origin x="4328" y="15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64B3A-8722-9AF7-5EC3-AE0D0C70FEA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2E2C2BB-178D-E7BD-562A-446597C386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F56F4D-BF57-1642-B043-D71AF46332F6}" type="datetimeFigureOut">
              <a:rPr lang="en-US" smtClean="0"/>
              <a:t>6/18/2026</a:t>
            </a:fld>
            <a:endParaRPr lang="en-US"/>
          </a:p>
        </p:txBody>
      </p:sp>
      <p:sp>
        <p:nvSpPr>
          <p:cNvPr id="4" name="Footer Placeholder 3">
            <a:extLst>
              <a:ext uri="{FF2B5EF4-FFF2-40B4-BE49-F238E27FC236}">
                <a16:creationId xmlns:a16="http://schemas.microsoft.com/office/drawing/2014/main" id="{5B141684-0473-8FBD-A7C9-175984E44B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6F97837-D218-B6D6-38D2-87E4C8415B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CA1B25-DEE6-774E-96C3-C1BB86269CF1}" type="slidenum">
              <a:rPr lang="en-US" smtClean="0"/>
              <a:t>‹#›</a:t>
            </a:fld>
            <a:endParaRPr lang="en-US"/>
          </a:p>
        </p:txBody>
      </p:sp>
    </p:spTree>
    <p:extLst>
      <p:ext uri="{BB962C8B-B14F-4D97-AF65-F5344CB8AC3E}">
        <p14:creationId xmlns:p14="http://schemas.microsoft.com/office/powerpoint/2010/main" val="823975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6163E-2687-0A4E-A290-B3ED83DC2048}"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07460-1F59-D64F-9F02-4F7FA86A695B}" type="slidenum">
              <a:rPr lang="en-US" smtClean="0"/>
              <a:t>‹#›</a:t>
            </a:fld>
            <a:endParaRPr lang="en-US"/>
          </a:p>
        </p:txBody>
      </p:sp>
    </p:spTree>
    <p:extLst>
      <p:ext uri="{BB962C8B-B14F-4D97-AF65-F5344CB8AC3E}">
        <p14:creationId xmlns:p14="http://schemas.microsoft.com/office/powerpoint/2010/main" val="2158204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7</a:t>
            </a:fld>
            <a:endParaRPr lang="en-US"/>
          </a:p>
        </p:txBody>
      </p:sp>
    </p:spTree>
    <p:extLst>
      <p:ext uri="{BB962C8B-B14F-4D97-AF65-F5344CB8AC3E}">
        <p14:creationId xmlns:p14="http://schemas.microsoft.com/office/powerpoint/2010/main" val="7690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9</a:t>
            </a:fld>
            <a:endParaRPr lang="en-US"/>
          </a:p>
        </p:txBody>
      </p:sp>
    </p:spTree>
    <p:extLst>
      <p:ext uri="{BB962C8B-B14F-4D97-AF65-F5344CB8AC3E}">
        <p14:creationId xmlns:p14="http://schemas.microsoft.com/office/powerpoint/2010/main" val="2587868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10</a:t>
            </a:fld>
            <a:endParaRPr lang="en-US"/>
          </a:p>
        </p:txBody>
      </p:sp>
    </p:spTree>
    <p:extLst>
      <p:ext uri="{BB962C8B-B14F-4D97-AF65-F5344CB8AC3E}">
        <p14:creationId xmlns:p14="http://schemas.microsoft.com/office/powerpoint/2010/main" val="1861587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11</a:t>
            </a:fld>
            <a:endParaRPr lang="en-US"/>
          </a:p>
        </p:txBody>
      </p:sp>
    </p:spTree>
    <p:extLst>
      <p:ext uri="{BB962C8B-B14F-4D97-AF65-F5344CB8AC3E}">
        <p14:creationId xmlns:p14="http://schemas.microsoft.com/office/powerpoint/2010/main" val="2221071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12</a:t>
            </a:fld>
            <a:endParaRPr lang="en-US"/>
          </a:p>
        </p:txBody>
      </p:sp>
    </p:spTree>
    <p:extLst>
      <p:ext uri="{BB962C8B-B14F-4D97-AF65-F5344CB8AC3E}">
        <p14:creationId xmlns:p14="http://schemas.microsoft.com/office/powerpoint/2010/main" val="564521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13</a:t>
            </a:fld>
            <a:endParaRPr lang="en-US"/>
          </a:p>
        </p:txBody>
      </p:sp>
    </p:spTree>
    <p:extLst>
      <p:ext uri="{BB962C8B-B14F-4D97-AF65-F5344CB8AC3E}">
        <p14:creationId xmlns:p14="http://schemas.microsoft.com/office/powerpoint/2010/main" val="1473737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14</a:t>
            </a:fld>
            <a:endParaRPr lang="en-US"/>
          </a:p>
        </p:txBody>
      </p:sp>
    </p:spTree>
    <p:extLst>
      <p:ext uri="{BB962C8B-B14F-4D97-AF65-F5344CB8AC3E}">
        <p14:creationId xmlns:p14="http://schemas.microsoft.com/office/powerpoint/2010/main" val="3890172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56776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5663B8-9FED-7347-71D3-45C5C9B7BC3B}"/>
              </a:ext>
            </a:extLst>
          </p:cNvPr>
          <p:cNvSpPr/>
          <p:nvPr userDrawn="1"/>
        </p:nvSpPr>
        <p:spPr>
          <a:xfrm>
            <a:off x="297593" y="5882326"/>
            <a:ext cx="1640264" cy="659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F3620F8-7E26-E449-F3B7-9EC8108B7998}"/>
              </a:ext>
            </a:extLst>
          </p:cNvPr>
          <p:cNvSpPr>
            <a:spLocks noGrp="1"/>
          </p:cNvSpPr>
          <p:nvPr>
            <p:ph type="ctrTitle"/>
          </p:nvPr>
        </p:nvSpPr>
        <p:spPr>
          <a:xfrm>
            <a:off x="1524000" y="2637873"/>
            <a:ext cx="9144000" cy="1109834"/>
          </a:xfrm>
          <a:prstGeom prst="rect">
            <a:avLst/>
          </a:prstGeom>
        </p:spPr>
        <p:txBody>
          <a:bodyPr anchor="b">
            <a:normAutofit/>
          </a:bodyPr>
          <a:lstStyle>
            <a:lvl1pPr algn="ctr">
              <a:defRPr sz="4400" b="1" baseline="0"/>
            </a:lvl1pPr>
          </a:lstStyle>
          <a:p>
            <a:r>
              <a:rPr lang="en-US"/>
              <a:t>Click to edit Master title style</a:t>
            </a:r>
          </a:p>
        </p:txBody>
      </p:sp>
      <p:pic>
        <p:nvPicPr>
          <p:cNvPr id="5" name="Picture 4">
            <a:extLst>
              <a:ext uri="{FF2B5EF4-FFF2-40B4-BE49-F238E27FC236}">
                <a16:creationId xmlns:a16="http://schemas.microsoft.com/office/drawing/2014/main" id="{5E7EBBEC-EC6C-43CF-0D29-E0AA7DA37CA3}"/>
              </a:ext>
            </a:extLst>
          </p:cNvPr>
          <p:cNvPicPr>
            <a:picLocks noChangeAspect="1"/>
          </p:cNvPicPr>
          <p:nvPr userDrawn="1"/>
        </p:nvPicPr>
        <p:blipFill>
          <a:blip r:embed="rId2"/>
          <a:srcRect b="28796"/>
          <a:stretch/>
        </p:blipFill>
        <p:spPr>
          <a:xfrm>
            <a:off x="-89900" y="2454993"/>
            <a:ext cx="12367368" cy="4403007"/>
          </a:xfrm>
          <a:prstGeom prst="rect">
            <a:avLst/>
          </a:prstGeom>
        </p:spPr>
      </p:pic>
      <p:sp>
        <p:nvSpPr>
          <p:cNvPr id="3" name="Subtitle 2">
            <a:extLst>
              <a:ext uri="{FF2B5EF4-FFF2-40B4-BE49-F238E27FC236}">
                <a16:creationId xmlns:a16="http://schemas.microsoft.com/office/drawing/2014/main" id="{DF9165AA-F3F2-F618-AF66-4B528EA911CF}"/>
              </a:ext>
            </a:extLst>
          </p:cNvPr>
          <p:cNvSpPr>
            <a:spLocks noGrp="1"/>
          </p:cNvSpPr>
          <p:nvPr>
            <p:ph type="subTitle" idx="1"/>
          </p:nvPr>
        </p:nvSpPr>
        <p:spPr>
          <a:xfrm>
            <a:off x="1524000" y="3839782"/>
            <a:ext cx="9144000" cy="1054970"/>
          </a:xfrm>
        </p:spPr>
        <p:txBody>
          <a:bodyPr>
            <a:normAutofit/>
          </a:bodyPr>
          <a:lstStyle>
            <a:lvl1pPr marL="0" indent="0" algn="ctr">
              <a:buNone/>
              <a:defRPr sz="20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6" name="Straight Connector 5">
            <a:extLst>
              <a:ext uri="{FF2B5EF4-FFF2-40B4-BE49-F238E27FC236}">
                <a16:creationId xmlns:a16="http://schemas.microsoft.com/office/drawing/2014/main" id="{3978928D-E2F7-3347-8656-08E28E6F8872}"/>
              </a:ext>
            </a:extLst>
          </p:cNvPr>
          <p:cNvCxnSpPr/>
          <p:nvPr userDrawn="1"/>
        </p:nvCxnSpPr>
        <p:spPr>
          <a:xfrm>
            <a:off x="1895842" y="2454993"/>
            <a:ext cx="8334532" cy="0"/>
          </a:xfrm>
          <a:prstGeom prst="line">
            <a:avLst/>
          </a:prstGeom>
          <a:ln w="28575">
            <a:gradFill>
              <a:gsLst>
                <a:gs pos="0">
                  <a:schemeClr val="accent5"/>
                </a:gs>
                <a:gs pos="100000">
                  <a:schemeClr val="tx1"/>
                </a:gs>
              </a:gsLst>
              <a:lin ang="0" scaled="0"/>
            </a:gradFill>
          </a:ln>
        </p:spPr>
        <p:style>
          <a:lnRef idx="1">
            <a:schemeClr val="accent1"/>
          </a:lnRef>
          <a:fillRef idx="0">
            <a:schemeClr val="accent1"/>
          </a:fillRef>
          <a:effectRef idx="0">
            <a:schemeClr val="accent1"/>
          </a:effectRef>
          <a:fontRef idx="minor">
            <a:schemeClr val="tx1"/>
          </a:fontRef>
        </p:style>
      </p:cxnSp>
      <p:pic>
        <p:nvPicPr>
          <p:cNvPr id="8" name="Google Shape;20;p18" title="Logo-02.png">
            <a:extLst>
              <a:ext uri="{FF2B5EF4-FFF2-40B4-BE49-F238E27FC236}">
                <a16:creationId xmlns:a16="http://schemas.microsoft.com/office/drawing/2014/main" id="{05286E34-6C03-2ECD-FB88-63A9CB481998}"/>
              </a:ext>
            </a:extLst>
          </p:cNvPr>
          <p:cNvPicPr preferRelativeResize="0"/>
          <p:nvPr userDrawn="1"/>
        </p:nvPicPr>
        <p:blipFill>
          <a:blip r:embed="rId3">
            <a:alphaModFix/>
          </a:blip>
          <a:stretch>
            <a:fillRect/>
          </a:stretch>
        </p:blipFill>
        <p:spPr>
          <a:xfrm>
            <a:off x="4680162" y="762736"/>
            <a:ext cx="2765901" cy="1364050"/>
          </a:xfrm>
          <a:prstGeom prst="rect">
            <a:avLst/>
          </a:prstGeom>
          <a:noFill/>
          <a:ln>
            <a:noFill/>
          </a:ln>
        </p:spPr>
      </p:pic>
    </p:spTree>
    <p:extLst>
      <p:ext uri="{BB962C8B-B14F-4D97-AF65-F5344CB8AC3E}">
        <p14:creationId xmlns:p14="http://schemas.microsoft.com/office/powerpoint/2010/main" val="2069256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BEF9F8-08BF-BD43-132F-0947E420C415}"/>
              </a:ext>
            </a:extLst>
          </p:cNvPr>
          <p:cNvPicPr>
            <a:picLocks noChangeAspect="1"/>
          </p:cNvPicPr>
          <p:nvPr userDrawn="1"/>
        </p:nvPicPr>
        <p:blipFill>
          <a:blip r:embed="rId2"/>
          <a:srcRect b="14324"/>
          <a:stretch/>
        </p:blipFill>
        <p:spPr>
          <a:xfrm>
            <a:off x="-62400" y="1560115"/>
            <a:ext cx="12367368" cy="5297885"/>
          </a:xfrm>
          <a:prstGeom prst="rect">
            <a:avLst/>
          </a:prstGeom>
        </p:spPr>
      </p:pic>
      <p:pic>
        <p:nvPicPr>
          <p:cNvPr id="6" name="Google Shape;20;p18" title="Logo-02.png">
            <a:extLst>
              <a:ext uri="{FF2B5EF4-FFF2-40B4-BE49-F238E27FC236}">
                <a16:creationId xmlns:a16="http://schemas.microsoft.com/office/drawing/2014/main" id="{3845CAA0-1413-05CB-FAE8-FA5AB31168B5}"/>
              </a:ext>
            </a:extLst>
          </p:cNvPr>
          <p:cNvPicPr preferRelativeResize="0"/>
          <p:nvPr userDrawn="1"/>
        </p:nvPicPr>
        <p:blipFill>
          <a:blip r:embed="rId3">
            <a:alphaModFix/>
          </a:blip>
          <a:stretch>
            <a:fillRect/>
          </a:stretch>
        </p:blipFill>
        <p:spPr>
          <a:xfrm>
            <a:off x="4170688" y="1439890"/>
            <a:ext cx="3850624" cy="1898999"/>
          </a:xfrm>
          <a:prstGeom prst="rect">
            <a:avLst/>
          </a:prstGeom>
          <a:noFill/>
          <a:ln>
            <a:noFill/>
          </a:ln>
        </p:spPr>
      </p:pic>
      <p:sp>
        <p:nvSpPr>
          <p:cNvPr id="5" name="Rectangle 4">
            <a:extLst>
              <a:ext uri="{FF2B5EF4-FFF2-40B4-BE49-F238E27FC236}">
                <a16:creationId xmlns:a16="http://schemas.microsoft.com/office/drawing/2014/main" id="{5CDF9E7D-6386-36A2-1023-53A2110C0A59}"/>
              </a:ext>
            </a:extLst>
          </p:cNvPr>
          <p:cNvSpPr/>
          <p:nvPr userDrawn="1"/>
        </p:nvSpPr>
        <p:spPr>
          <a:xfrm>
            <a:off x="297593" y="5882326"/>
            <a:ext cx="1640264" cy="659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11726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5" name="Content Placeholder 2">
            <a:extLst>
              <a:ext uri="{FF2B5EF4-FFF2-40B4-BE49-F238E27FC236}">
                <a16:creationId xmlns:a16="http://schemas.microsoft.com/office/drawing/2014/main" id="{9E5C4BF1-6959-4920-B12F-96157F05146A}"/>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title 2">
            <a:extLst>
              <a:ext uri="{FF2B5EF4-FFF2-40B4-BE49-F238E27FC236}">
                <a16:creationId xmlns:a16="http://schemas.microsoft.com/office/drawing/2014/main" id="{06DF74DC-588A-BE96-199A-80C1209B6BF1}"/>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203789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 2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A0B5AD-BC42-99CC-A0D8-E88EDD8BC96E}"/>
              </a:ext>
            </a:extLst>
          </p:cNvPr>
          <p:cNvSpPr>
            <a:spLocks noGrp="1"/>
          </p:cNvSpPr>
          <p:nvPr>
            <p:ph sz="half" idx="1"/>
          </p:nvPr>
        </p:nvSpPr>
        <p:spPr>
          <a:xfrm>
            <a:off x="398929" y="1478216"/>
            <a:ext cx="555031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B01214-63AC-CA44-1379-4746B648F35E}"/>
              </a:ext>
            </a:extLst>
          </p:cNvPr>
          <p:cNvSpPr>
            <a:spLocks noGrp="1"/>
          </p:cNvSpPr>
          <p:nvPr>
            <p:ph sz="half" idx="2"/>
          </p:nvPr>
        </p:nvSpPr>
        <p:spPr>
          <a:xfrm>
            <a:off x="6242758" y="1478216"/>
            <a:ext cx="555300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01160761-CC8A-C255-CD53-C509786231FA}"/>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7" name="Subtitle 2">
            <a:extLst>
              <a:ext uri="{FF2B5EF4-FFF2-40B4-BE49-F238E27FC236}">
                <a16:creationId xmlns:a16="http://schemas.microsoft.com/office/drawing/2014/main" id="{0F32A6B9-D450-F1D5-F1D2-7B764E98E19F}"/>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103243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1">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4" name="Graphic 3">
            <a:extLst>
              <a:ext uri="{FF2B5EF4-FFF2-40B4-BE49-F238E27FC236}">
                <a16:creationId xmlns:a16="http://schemas.microsoft.com/office/drawing/2014/main" id="{7A28E6AB-04C1-4370-7D3B-8EBFAA3345D6}"/>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7381" b="31259"/>
          <a:stretch/>
        </p:blipFill>
        <p:spPr>
          <a:xfrm>
            <a:off x="7038752" y="21267"/>
            <a:ext cx="5217043" cy="3407734"/>
          </a:xfrm>
          <a:prstGeom prst="rect">
            <a:avLst/>
          </a:prstGeom>
        </p:spPr>
      </p:pic>
      <p:sp>
        <p:nvSpPr>
          <p:cNvPr id="6" name="Content Placeholder 2">
            <a:extLst>
              <a:ext uri="{FF2B5EF4-FFF2-40B4-BE49-F238E27FC236}">
                <a16:creationId xmlns:a16="http://schemas.microsoft.com/office/drawing/2014/main" id="{F204856C-BCB8-380A-A3B7-D2EA43CA3D43}"/>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98BEC348-7CC4-655D-BA2E-207E75C74F53}"/>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59882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2" name="Graphic 1">
            <a:extLst>
              <a:ext uri="{FF2B5EF4-FFF2-40B4-BE49-F238E27FC236}">
                <a16:creationId xmlns:a16="http://schemas.microsoft.com/office/drawing/2014/main" id="{CFCDE480-9BF6-29A9-C4F3-B49B5B185430}"/>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57753"/>
          <a:stretch/>
        </p:blipFill>
        <p:spPr>
          <a:xfrm rot="16200000" flipV="1">
            <a:off x="7528779" y="-375575"/>
            <a:ext cx="4282541" cy="5214024"/>
          </a:xfrm>
          <a:prstGeom prst="rect">
            <a:avLst/>
          </a:prstGeom>
        </p:spPr>
      </p:pic>
      <p:sp>
        <p:nvSpPr>
          <p:cNvPr id="6" name="Content Placeholder 2">
            <a:extLst>
              <a:ext uri="{FF2B5EF4-FFF2-40B4-BE49-F238E27FC236}">
                <a16:creationId xmlns:a16="http://schemas.microsoft.com/office/drawing/2014/main" id="{850D5725-1CC4-A4A2-9EDA-9E424D1C848C}"/>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925D2A8D-890F-9057-5BF4-1FF174AA82FD}"/>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19846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1F373B7-6F5A-67EA-EE91-86F030021627}"/>
              </a:ext>
            </a:extLst>
          </p:cNvPr>
          <p:cNvPicPr>
            <a:picLocks noChangeAspect="1"/>
          </p:cNvPicPr>
          <p:nvPr userDrawn="1"/>
        </p:nvPicPr>
        <p:blipFill>
          <a:blip>
            <a:extLst>
              <a:ext uri="{96DAC541-7B7A-43D3-8B79-37D633B846F1}">
                <asvg:svgBlip xmlns:asvg="http://schemas.microsoft.com/office/drawing/2016/SVG/main" xmlns="" r:embed="rId2"/>
              </a:ext>
            </a:extLst>
          </a:blip>
          <a:stretch>
            <a:fillRect/>
          </a:stretch>
        </p:blipFill>
        <p:spPr>
          <a:xfrm>
            <a:off x="2147047" y="23944"/>
            <a:ext cx="10098118" cy="5049059"/>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5" name="Content Placeholder 2">
            <a:extLst>
              <a:ext uri="{FF2B5EF4-FFF2-40B4-BE49-F238E27FC236}">
                <a16:creationId xmlns:a16="http://schemas.microsoft.com/office/drawing/2014/main" id="{2BD8DB83-2528-E1FE-B517-23C457A4901D}"/>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B7E312E0-EADB-FF5C-D108-E61EB95366F1}"/>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023608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5" name="Graphic 4">
            <a:extLst>
              <a:ext uri="{FF2B5EF4-FFF2-40B4-BE49-F238E27FC236}">
                <a16:creationId xmlns:a16="http://schemas.microsoft.com/office/drawing/2014/main" id="{C0771FC0-37FA-7C6A-CBFE-C5F473BAE17F}"/>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918" b="33155"/>
          <a:stretch/>
        </p:blipFill>
        <p:spPr>
          <a:xfrm>
            <a:off x="6879265" y="26536"/>
            <a:ext cx="5376532" cy="3322720"/>
          </a:xfrm>
          <a:prstGeom prst="rect">
            <a:avLst/>
          </a:prstGeom>
        </p:spPr>
      </p:pic>
      <p:sp>
        <p:nvSpPr>
          <p:cNvPr id="4" name="Content Placeholder 2">
            <a:extLst>
              <a:ext uri="{FF2B5EF4-FFF2-40B4-BE49-F238E27FC236}">
                <a16:creationId xmlns:a16="http://schemas.microsoft.com/office/drawing/2014/main" id="{18B26CDC-FCAC-B4F1-54BD-39CBD2B57999}"/>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94B640E0-A84A-C3C0-E636-4C3B44765D25}"/>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63351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5">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5" name="Graphic 4">
            <a:extLst>
              <a:ext uri="{FF2B5EF4-FFF2-40B4-BE49-F238E27FC236}">
                <a16:creationId xmlns:a16="http://schemas.microsoft.com/office/drawing/2014/main" id="{6DA52736-FEB9-B9FF-0F0D-E6731FC23584}"/>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905" b="30057"/>
          <a:stretch/>
        </p:blipFill>
        <p:spPr>
          <a:xfrm rot="10800000" flipH="1">
            <a:off x="7325832" y="3710762"/>
            <a:ext cx="4929965" cy="3211035"/>
          </a:xfrm>
          <a:prstGeom prst="rect">
            <a:avLst/>
          </a:prstGeom>
        </p:spPr>
      </p:pic>
      <p:sp>
        <p:nvSpPr>
          <p:cNvPr id="4" name="Content Placeholder 2">
            <a:extLst>
              <a:ext uri="{FF2B5EF4-FFF2-40B4-BE49-F238E27FC236}">
                <a16:creationId xmlns:a16="http://schemas.microsoft.com/office/drawing/2014/main" id="{5A852557-D34A-6E39-DB26-3692D466A283}"/>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AB11C4EE-582D-5CA6-0256-7CAEF3634B03}"/>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38752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Purple Column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02B53C-65AF-B419-F5E2-DDEDC1752CF2}"/>
              </a:ext>
            </a:extLst>
          </p:cNvPr>
          <p:cNvSpPr/>
          <p:nvPr userDrawn="1"/>
        </p:nvSpPr>
        <p:spPr>
          <a:xfrm>
            <a:off x="8297337" y="90311"/>
            <a:ext cx="4342286" cy="6842775"/>
          </a:xfrm>
          <a:custGeom>
            <a:avLst/>
            <a:gdLst>
              <a:gd name="connsiteX0" fmla="*/ 0 w 3687530"/>
              <a:gd name="connsiteY0" fmla="*/ 0 h 6831486"/>
              <a:gd name="connsiteX1" fmla="*/ 3687530 w 3687530"/>
              <a:gd name="connsiteY1" fmla="*/ 0 h 6831486"/>
              <a:gd name="connsiteX2" fmla="*/ 3687530 w 3687530"/>
              <a:gd name="connsiteY2" fmla="*/ 6831486 h 6831486"/>
              <a:gd name="connsiteX3" fmla="*/ 0 w 3687530"/>
              <a:gd name="connsiteY3" fmla="*/ 6831486 h 6831486"/>
              <a:gd name="connsiteX4" fmla="*/ 0 w 3687530"/>
              <a:gd name="connsiteY4" fmla="*/ 0 h 6831486"/>
              <a:gd name="connsiteX0" fmla="*/ 654756 w 4342286"/>
              <a:gd name="connsiteY0" fmla="*/ 0 h 6842775"/>
              <a:gd name="connsiteX1" fmla="*/ 4342286 w 4342286"/>
              <a:gd name="connsiteY1" fmla="*/ 0 h 6842775"/>
              <a:gd name="connsiteX2" fmla="*/ 4342286 w 4342286"/>
              <a:gd name="connsiteY2" fmla="*/ 6831486 h 6842775"/>
              <a:gd name="connsiteX3" fmla="*/ 0 w 4342286"/>
              <a:gd name="connsiteY3" fmla="*/ 6842775 h 6842775"/>
              <a:gd name="connsiteX4" fmla="*/ 654756 w 4342286"/>
              <a:gd name="connsiteY4" fmla="*/ 0 h 6842775"/>
              <a:gd name="connsiteX0" fmla="*/ 891822 w 4342286"/>
              <a:gd name="connsiteY0" fmla="*/ 11289 h 6842775"/>
              <a:gd name="connsiteX1" fmla="*/ 4342286 w 4342286"/>
              <a:gd name="connsiteY1" fmla="*/ 0 h 6842775"/>
              <a:gd name="connsiteX2" fmla="*/ 4342286 w 4342286"/>
              <a:gd name="connsiteY2" fmla="*/ 6831486 h 6842775"/>
              <a:gd name="connsiteX3" fmla="*/ 0 w 4342286"/>
              <a:gd name="connsiteY3" fmla="*/ 6842775 h 6842775"/>
              <a:gd name="connsiteX4" fmla="*/ 891822 w 4342286"/>
              <a:gd name="connsiteY4" fmla="*/ 11289 h 6842775"/>
              <a:gd name="connsiteX0" fmla="*/ 1117599 w 4342286"/>
              <a:gd name="connsiteY0" fmla="*/ 22578 h 6842775"/>
              <a:gd name="connsiteX1" fmla="*/ 4342286 w 4342286"/>
              <a:gd name="connsiteY1" fmla="*/ 0 h 6842775"/>
              <a:gd name="connsiteX2" fmla="*/ 4342286 w 4342286"/>
              <a:gd name="connsiteY2" fmla="*/ 6831486 h 6842775"/>
              <a:gd name="connsiteX3" fmla="*/ 0 w 4342286"/>
              <a:gd name="connsiteY3" fmla="*/ 6842775 h 6842775"/>
              <a:gd name="connsiteX4" fmla="*/ 1117599 w 4342286"/>
              <a:gd name="connsiteY4" fmla="*/ 22578 h 6842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2286" h="6842775">
                <a:moveTo>
                  <a:pt x="1117599" y="22578"/>
                </a:moveTo>
                <a:lnTo>
                  <a:pt x="4342286" y="0"/>
                </a:lnTo>
                <a:lnTo>
                  <a:pt x="4342286" y="6831486"/>
                </a:lnTo>
                <a:lnTo>
                  <a:pt x="0" y="6842775"/>
                </a:lnTo>
                <a:lnTo>
                  <a:pt x="1117599" y="22578"/>
                </a:ln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9E93A358-37DF-D0BF-DF08-67C36A62F903}"/>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503" b="29905"/>
          <a:stretch/>
        </p:blipFill>
        <p:spPr>
          <a:xfrm rot="10800000" flipH="1">
            <a:off x="7429401" y="3801067"/>
            <a:ext cx="4816419" cy="3120728"/>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dirty="0"/>
              <a:t>Click to edit Master title style</a:t>
            </a:r>
          </a:p>
        </p:txBody>
      </p:sp>
      <p:sp>
        <p:nvSpPr>
          <p:cNvPr id="6" name="Content Placeholder 2">
            <a:extLst>
              <a:ext uri="{FF2B5EF4-FFF2-40B4-BE49-F238E27FC236}">
                <a16:creationId xmlns:a16="http://schemas.microsoft.com/office/drawing/2014/main" id="{9C06C21A-D380-E1D4-0E59-89A5750FC86D}"/>
              </a:ext>
            </a:extLst>
          </p:cNvPr>
          <p:cNvSpPr>
            <a:spLocks noGrp="1"/>
          </p:cNvSpPr>
          <p:nvPr>
            <p:ph idx="1"/>
          </p:nvPr>
        </p:nvSpPr>
        <p:spPr>
          <a:xfrm>
            <a:off x="403414" y="1479176"/>
            <a:ext cx="8429502"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A9B736ED-F5D9-7485-1C4E-0AF8DF4406A8}"/>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661250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Purp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02B53C-65AF-B419-F5E2-DDEDC1752CF2}"/>
              </a:ext>
            </a:extLst>
          </p:cNvPr>
          <p:cNvSpPr/>
          <p:nvPr userDrawn="1"/>
        </p:nvSpPr>
        <p:spPr>
          <a:xfrm>
            <a:off x="6965244" y="90311"/>
            <a:ext cx="5674379" cy="6842775"/>
          </a:xfrm>
          <a:custGeom>
            <a:avLst/>
            <a:gdLst>
              <a:gd name="connsiteX0" fmla="*/ 0 w 3687530"/>
              <a:gd name="connsiteY0" fmla="*/ 0 h 6831486"/>
              <a:gd name="connsiteX1" fmla="*/ 3687530 w 3687530"/>
              <a:gd name="connsiteY1" fmla="*/ 0 h 6831486"/>
              <a:gd name="connsiteX2" fmla="*/ 3687530 w 3687530"/>
              <a:gd name="connsiteY2" fmla="*/ 6831486 h 6831486"/>
              <a:gd name="connsiteX3" fmla="*/ 0 w 3687530"/>
              <a:gd name="connsiteY3" fmla="*/ 6831486 h 6831486"/>
              <a:gd name="connsiteX4" fmla="*/ 0 w 3687530"/>
              <a:gd name="connsiteY4" fmla="*/ 0 h 6831486"/>
              <a:gd name="connsiteX0" fmla="*/ 654756 w 4342286"/>
              <a:gd name="connsiteY0" fmla="*/ 0 h 6842775"/>
              <a:gd name="connsiteX1" fmla="*/ 4342286 w 4342286"/>
              <a:gd name="connsiteY1" fmla="*/ 0 h 6842775"/>
              <a:gd name="connsiteX2" fmla="*/ 4342286 w 4342286"/>
              <a:gd name="connsiteY2" fmla="*/ 6831486 h 6842775"/>
              <a:gd name="connsiteX3" fmla="*/ 0 w 4342286"/>
              <a:gd name="connsiteY3" fmla="*/ 6842775 h 6842775"/>
              <a:gd name="connsiteX4" fmla="*/ 654756 w 4342286"/>
              <a:gd name="connsiteY4" fmla="*/ 0 h 6842775"/>
              <a:gd name="connsiteX0" fmla="*/ 891822 w 4342286"/>
              <a:gd name="connsiteY0" fmla="*/ 11289 h 6842775"/>
              <a:gd name="connsiteX1" fmla="*/ 4342286 w 4342286"/>
              <a:gd name="connsiteY1" fmla="*/ 0 h 6842775"/>
              <a:gd name="connsiteX2" fmla="*/ 4342286 w 4342286"/>
              <a:gd name="connsiteY2" fmla="*/ 6831486 h 6842775"/>
              <a:gd name="connsiteX3" fmla="*/ 0 w 4342286"/>
              <a:gd name="connsiteY3" fmla="*/ 6842775 h 6842775"/>
              <a:gd name="connsiteX4" fmla="*/ 891822 w 4342286"/>
              <a:gd name="connsiteY4" fmla="*/ 11289 h 6842775"/>
              <a:gd name="connsiteX0" fmla="*/ 1117599 w 4342286"/>
              <a:gd name="connsiteY0" fmla="*/ 22578 h 6842775"/>
              <a:gd name="connsiteX1" fmla="*/ 4342286 w 4342286"/>
              <a:gd name="connsiteY1" fmla="*/ 0 h 6842775"/>
              <a:gd name="connsiteX2" fmla="*/ 4342286 w 4342286"/>
              <a:gd name="connsiteY2" fmla="*/ 6831486 h 6842775"/>
              <a:gd name="connsiteX3" fmla="*/ 0 w 4342286"/>
              <a:gd name="connsiteY3" fmla="*/ 6842775 h 6842775"/>
              <a:gd name="connsiteX4" fmla="*/ 1117599 w 4342286"/>
              <a:gd name="connsiteY4" fmla="*/ 22578 h 6842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2286" h="6842775">
                <a:moveTo>
                  <a:pt x="1117599" y="22578"/>
                </a:moveTo>
                <a:lnTo>
                  <a:pt x="4342286" y="0"/>
                </a:lnTo>
                <a:lnTo>
                  <a:pt x="4342286" y="6831486"/>
                </a:lnTo>
                <a:lnTo>
                  <a:pt x="0" y="6842775"/>
                </a:lnTo>
                <a:lnTo>
                  <a:pt x="1117599" y="22578"/>
                </a:ln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Graphic 1">
            <a:extLst>
              <a:ext uri="{FF2B5EF4-FFF2-40B4-BE49-F238E27FC236}">
                <a16:creationId xmlns:a16="http://schemas.microsoft.com/office/drawing/2014/main" id="{B248F769-EDFA-D8B5-7BEA-9C2CD267AAF4}"/>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503" b="29905"/>
          <a:stretch/>
        </p:blipFill>
        <p:spPr>
          <a:xfrm rot="16200000" flipH="1" flipV="1">
            <a:off x="7602902" y="2265052"/>
            <a:ext cx="5625662" cy="3684210"/>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dirty="0"/>
              <a:t>Click to edit Master title style</a:t>
            </a:r>
          </a:p>
        </p:txBody>
      </p:sp>
      <p:sp>
        <p:nvSpPr>
          <p:cNvPr id="6" name="Content Placeholder 2">
            <a:extLst>
              <a:ext uri="{FF2B5EF4-FFF2-40B4-BE49-F238E27FC236}">
                <a16:creationId xmlns:a16="http://schemas.microsoft.com/office/drawing/2014/main" id="{9C06C21A-D380-E1D4-0E59-89A5750FC86D}"/>
              </a:ext>
            </a:extLst>
          </p:cNvPr>
          <p:cNvSpPr>
            <a:spLocks noGrp="1"/>
          </p:cNvSpPr>
          <p:nvPr>
            <p:ph idx="1"/>
          </p:nvPr>
        </p:nvSpPr>
        <p:spPr>
          <a:xfrm>
            <a:off x="403414" y="1479176"/>
            <a:ext cx="8429502"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A9B736ED-F5D9-7485-1C4E-0AF8DF4406A8}"/>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31332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dium Purple Column 1">
    <p:spTree>
      <p:nvGrpSpPr>
        <p:cNvPr id="1" name=""/>
        <p:cNvGrpSpPr/>
        <p:nvPr/>
      </p:nvGrpSpPr>
      <p:grpSpPr>
        <a:xfrm>
          <a:off x="0" y="0"/>
          <a:ext cx="0" cy="0"/>
          <a:chOff x="0" y="0"/>
          <a:chExt cx="0" cy="0"/>
        </a:xfrm>
      </p:grpSpPr>
      <p:sp>
        <p:nvSpPr>
          <p:cNvPr id="2" name="Freeform: Shape 3">
            <a:extLst>
              <a:ext uri="{FF2B5EF4-FFF2-40B4-BE49-F238E27FC236}">
                <a16:creationId xmlns:a16="http://schemas.microsoft.com/office/drawing/2014/main" id="{B6A167F1-ED34-BD0F-89D8-9011DD419B6F}"/>
              </a:ext>
            </a:extLst>
          </p:cNvPr>
          <p:cNvSpPr/>
          <p:nvPr userDrawn="1"/>
        </p:nvSpPr>
        <p:spPr>
          <a:xfrm rot="16200000" flipH="1">
            <a:off x="6037355" y="40529"/>
            <a:ext cx="6840130" cy="6882382"/>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7" name="Graphic 6">
            <a:extLst>
              <a:ext uri="{FF2B5EF4-FFF2-40B4-BE49-F238E27FC236}">
                <a16:creationId xmlns:a16="http://schemas.microsoft.com/office/drawing/2014/main" id="{F5E4C201-CBA5-EF7B-477C-7BF5DE93BF1A}"/>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503" b="29905"/>
          <a:stretch/>
        </p:blipFill>
        <p:spPr>
          <a:xfrm rot="16200000" flipH="1" flipV="1">
            <a:off x="7602902" y="2265052"/>
            <a:ext cx="5625662" cy="3684210"/>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8" name="Content Placeholder 2">
            <a:extLst>
              <a:ext uri="{FF2B5EF4-FFF2-40B4-BE49-F238E27FC236}">
                <a16:creationId xmlns:a16="http://schemas.microsoft.com/office/drawing/2014/main" id="{7D1E8034-7CCC-746B-556F-CCB241875385}"/>
              </a:ext>
            </a:extLst>
          </p:cNvPr>
          <p:cNvSpPr>
            <a:spLocks noGrp="1"/>
          </p:cNvSpPr>
          <p:nvPr>
            <p:ph sz="half" idx="1"/>
          </p:nvPr>
        </p:nvSpPr>
        <p:spPr>
          <a:xfrm>
            <a:off x="398928" y="1478215"/>
            <a:ext cx="6530551" cy="4483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A05EAAD8-B467-2556-5996-B35623D26B9C}"/>
              </a:ext>
            </a:extLst>
          </p:cNvPr>
          <p:cNvSpPr>
            <a:spLocks noGrp="1"/>
          </p:cNvSpPr>
          <p:nvPr>
            <p:ph sz="half" idx="2"/>
          </p:nvPr>
        </p:nvSpPr>
        <p:spPr>
          <a:xfrm>
            <a:off x="7495822" y="1478215"/>
            <a:ext cx="4299938" cy="44831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2">
            <a:extLst>
              <a:ext uri="{FF2B5EF4-FFF2-40B4-BE49-F238E27FC236}">
                <a16:creationId xmlns:a16="http://schemas.microsoft.com/office/drawing/2014/main" id="{AB5320D1-8F45-1323-4AA7-A62E54BA19A8}"/>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889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um Purple Column 2">
    <p:spTree>
      <p:nvGrpSpPr>
        <p:cNvPr id="1" name=""/>
        <p:cNvGrpSpPr/>
        <p:nvPr/>
      </p:nvGrpSpPr>
      <p:grpSpPr>
        <a:xfrm>
          <a:off x="0" y="0"/>
          <a:ext cx="0" cy="0"/>
          <a:chOff x="0" y="0"/>
          <a:chExt cx="0" cy="0"/>
        </a:xfrm>
      </p:grpSpPr>
      <p:sp>
        <p:nvSpPr>
          <p:cNvPr id="8" name="Freeform: Shape 3">
            <a:extLst>
              <a:ext uri="{FF2B5EF4-FFF2-40B4-BE49-F238E27FC236}">
                <a16:creationId xmlns:a16="http://schemas.microsoft.com/office/drawing/2014/main" id="{73E0D5E1-3BE0-9510-8AC8-0B335D421FCA}"/>
              </a:ext>
            </a:extLst>
          </p:cNvPr>
          <p:cNvSpPr/>
          <p:nvPr userDrawn="1"/>
        </p:nvSpPr>
        <p:spPr>
          <a:xfrm rot="16200000" flipH="1">
            <a:off x="5383909" y="40529"/>
            <a:ext cx="6840130" cy="6882382"/>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5" name="Graphic 4">
            <a:extLst>
              <a:ext uri="{FF2B5EF4-FFF2-40B4-BE49-F238E27FC236}">
                <a16:creationId xmlns:a16="http://schemas.microsoft.com/office/drawing/2014/main" id="{B4101D6F-4CD6-BCDE-639D-8D27C0545EE0}"/>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57753"/>
          <a:stretch/>
        </p:blipFill>
        <p:spPr>
          <a:xfrm flipV="1">
            <a:off x="7932813" y="1707352"/>
            <a:ext cx="4282541" cy="5214024"/>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6" name="Content Placeholder 2">
            <a:extLst>
              <a:ext uri="{FF2B5EF4-FFF2-40B4-BE49-F238E27FC236}">
                <a16:creationId xmlns:a16="http://schemas.microsoft.com/office/drawing/2014/main" id="{D95557BF-0F73-A981-4FF8-7BAA78B2E594}"/>
              </a:ext>
            </a:extLst>
          </p:cNvPr>
          <p:cNvSpPr>
            <a:spLocks noGrp="1"/>
          </p:cNvSpPr>
          <p:nvPr>
            <p:ph sz="half" idx="1"/>
          </p:nvPr>
        </p:nvSpPr>
        <p:spPr>
          <a:xfrm>
            <a:off x="398929" y="1478215"/>
            <a:ext cx="5832538" cy="4483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16B16DB6-95B5-37AC-03AC-D6F81FEAF7BA}"/>
              </a:ext>
            </a:extLst>
          </p:cNvPr>
          <p:cNvSpPr>
            <a:spLocks noGrp="1"/>
          </p:cNvSpPr>
          <p:nvPr>
            <p:ph sz="half" idx="2"/>
          </p:nvPr>
        </p:nvSpPr>
        <p:spPr>
          <a:xfrm>
            <a:off x="6894231" y="1478215"/>
            <a:ext cx="4954693" cy="44831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2">
            <a:extLst>
              <a:ext uri="{FF2B5EF4-FFF2-40B4-BE49-F238E27FC236}">
                <a16:creationId xmlns:a16="http://schemas.microsoft.com/office/drawing/2014/main" id="{C1F968B3-B9A3-D484-DC59-589EB3EBC5C5}"/>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79755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Purple Column 1">
    <p:spTree>
      <p:nvGrpSpPr>
        <p:cNvPr id="1" name=""/>
        <p:cNvGrpSpPr/>
        <p:nvPr/>
      </p:nvGrpSpPr>
      <p:grpSpPr>
        <a:xfrm>
          <a:off x="0" y="0"/>
          <a:ext cx="0" cy="0"/>
          <a:chOff x="0" y="0"/>
          <a:chExt cx="0" cy="0"/>
        </a:xfrm>
      </p:grpSpPr>
      <p:sp>
        <p:nvSpPr>
          <p:cNvPr id="3" name="Freeform: Shape 3">
            <a:extLst>
              <a:ext uri="{FF2B5EF4-FFF2-40B4-BE49-F238E27FC236}">
                <a16:creationId xmlns:a16="http://schemas.microsoft.com/office/drawing/2014/main" id="{B6E754D1-C7A2-0A43-0EFE-E1C4457378DD}"/>
              </a:ext>
            </a:extLst>
          </p:cNvPr>
          <p:cNvSpPr/>
          <p:nvPr userDrawn="1"/>
        </p:nvSpPr>
        <p:spPr>
          <a:xfrm rot="16200000" flipH="1">
            <a:off x="4877269" y="-412947"/>
            <a:ext cx="6840130" cy="7789333"/>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7" name="Graphic 6">
            <a:extLst>
              <a:ext uri="{FF2B5EF4-FFF2-40B4-BE49-F238E27FC236}">
                <a16:creationId xmlns:a16="http://schemas.microsoft.com/office/drawing/2014/main" id="{312775B6-AAC2-6244-DC2D-B5762531ACF9}"/>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503" b="29905"/>
          <a:stretch/>
        </p:blipFill>
        <p:spPr>
          <a:xfrm rot="10800000" flipH="1">
            <a:off x="6632502" y="3274490"/>
            <a:ext cx="5625662" cy="3645065"/>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4" name="Content Placeholder 2">
            <a:extLst>
              <a:ext uri="{FF2B5EF4-FFF2-40B4-BE49-F238E27FC236}">
                <a16:creationId xmlns:a16="http://schemas.microsoft.com/office/drawing/2014/main" id="{9DC9D013-9912-034A-3CA4-5D39A91AA0FC}"/>
              </a:ext>
            </a:extLst>
          </p:cNvPr>
          <p:cNvSpPr>
            <a:spLocks noGrp="1"/>
          </p:cNvSpPr>
          <p:nvPr>
            <p:ph sz="half" idx="1"/>
          </p:nvPr>
        </p:nvSpPr>
        <p:spPr>
          <a:xfrm>
            <a:off x="398929" y="1478216"/>
            <a:ext cx="524551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87310A49-D112-7589-2279-4983D892AAD7}"/>
              </a:ext>
            </a:extLst>
          </p:cNvPr>
          <p:cNvSpPr>
            <a:spLocks noGrp="1"/>
          </p:cNvSpPr>
          <p:nvPr>
            <p:ph sz="half" idx="2"/>
          </p:nvPr>
        </p:nvSpPr>
        <p:spPr>
          <a:xfrm>
            <a:off x="6175022" y="1478216"/>
            <a:ext cx="562073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2">
            <a:extLst>
              <a:ext uri="{FF2B5EF4-FFF2-40B4-BE49-F238E27FC236}">
                <a16:creationId xmlns:a16="http://schemas.microsoft.com/office/drawing/2014/main" id="{E7DC37CF-D778-8900-3559-995E88AC96AC}"/>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195576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Purple Column 2">
    <p:spTree>
      <p:nvGrpSpPr>
        <p:cNvPr id="1" name=""/>
        <p:cNvGrpSpPr/>
        <p:nvPr/>
      </p:nvGrpSpPr>
      <p:grpSpPr>
        <a:xfrm>
          <a:off x="0" y="0"/>
          <a:ext cx="0" cy="0"/>
          <a:chOff x="0" y="0"/>
          <a:chExt cx="0" cy="0"/>
        </a:xfrm>
      </p:grpSpPr>
      <p:sp>
        <p:nvSpPr>
          <p:cNvPr id="3" name="Freeform: Shape 3">
            <a:extLst>
              <a:ext uri="{FF2B5EF4-FFF2-40B4-BE49-F238E27FC236}">
                <a16:creationId xmlns:a16="http://schemas.microsoft.com/office/drawing/2014/main" id="{C29E7D22-8F34-9CA7-32FA-55D3DA369EB3}"/>
              </a:ext>
            </a:extLst>
          </p:cNvPr>
          <p:cNvSpPr/>
          <p:nvPr userDrawn="1"/>
        </p:nvSpPr>
        <p:spPr>
          <a:xfrm rot="16200000" flipH="1">
            <a:off x="4418101" y="-904014"/>
            <a:ext cx="6840130" cy="8771467"/>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Graphic 7">
            <a:extLst>
              <a:ext uri="{FF2B5EF4-FFF2-40B4-BE49-F238E27FC236}">
                <a16:creationId xmlns:a16="http://schemas.microsoft.com/office/drawing/2014/main" id="{0ED88935-2F18-C4EE-9399-7FD5AD4997DE}"/>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5503" b="29905"/>
          <a:stretch/>
        </p:blipFill>
        <p:spPr>
          <a:xfrm rot="10800000" flipH="1">
            <a:off x="6632670" y="3280931"/>
            <a:ext cx="5625662" cy="3645065"/>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5" name="Content Placeholder 2">
            <a:extLst>
              <a:ext uri="{FF2B5EF4-FFF2-40B4-BE49-F238E27FC236}">
                <a16:creationId xmlns:a16="http://schemas.microsoft.com/office/drawing/2014/main" id="{DD8AD0FA-94E3-7E79-DC97-B6B0289C8F65}"/>
              </a:ext>
            </a:extLst>
          </p:cNvPr>
          <p:cNvSpPr>
            <a:spLocks noGrp="1"/>
          </p:cNvSpPr>
          <p:nvPr>
            <p:ph sz="half" idx="1"/>
          </p:nvPr>
        </p:nvSpPr>
        <p:spPr>
          <a:xfrm>
            <a:off x="398929" y="1478216"/>
            <a:ext cx="452302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96A7998F-32C0-3B33-94CB-A7DD0A762D47}"/>
              </a:ext>
            </a:extLst>
          </p:cNvPr>
          <p:cNvSpPr>
            <a:spLocks noGrp="1"/>
          </p:cNvSpPr>
          <p:nvPr>
            <p:ph sz="half" idx="2"/>
          </p:nvPr>
        </p:nvSpPr>
        <p:spPr>
          <a:xfrm>
            <a:off x="5559331" y="1478216"/>
            <a:ext cx="623642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71155842-4FED-C87A-3950-D408BE5C6E4B}"/>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399899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p Purple Row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3EEEE-226A-3D65-B836-617278BFD025}"/>
              </a:ext>
            </a:extLst>
          </p:cNvPr>
          <p:cNvSpPr/>
          <p:nvPr userDrawn="1"/>
        </p:nvSpPr>
        <p:spPr>
          <a:xfrm flipH="1">
            <a:off x="-1" y="1"/>
            <a:ext cx="12188825" cy="448056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6" name="Title Placeholder 1">
            <a:extLst>
              <a:ext uri="{FF2B5EF4-FFF2-40B4-BE49-F238E27FC236}">
                <a16:creationId xmlns:a16="http://schemas.microsoft.com/office/drawing/2014/main" id="{40F26685-126D-A17D-7CC3-7DE204E0779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8" name="Graphic 7">
            <a:extLst>
              <a:ext uri="{FF2B5EF4-FFF2-40B4-BE49-F238E27FC236}">
                <a16:creationId xmlns:a16="http://schemas.microsoft.com/office/drawing/2014/main" id="{FCE3A2AF-0F0B-49AE-EDD2-C401F66C9DFC}"/>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46492" b="26410"/>
          <a:stretch/>
        </p:blipFill>
        <p:spPr>
          <a:xfrm>
            <a:off x="6602818" y="55561"/>
            <a:ext cx="5660433" cy="3892389"/>
          </a:xfrm>
          <a:prstGeom prst="rect">
            <a:avLst/>
          </a:prstGeom>
        </p:spPr>
      </p:pic>
      <p:sp>
        <p:nvSpPr>
          <p:cNvPr id="4" name="Content Placeholder 2">
            <a:extLst>
              <a:ext uri="{FF2B5EF4-FFF2-40B4-BE49-F238E27FC236}">
                <a16:creationId xmlns:a16="http://schemas.microsoft.com/office/drawing/2014/main" id="{52C1016B-C16A-947D-DF8F-2DE4A64B6F5B}"/>
              </a:ext>
            </a:extLst>
          </p:cNvPr>
          <p:cNvSpPr>
            <a:spLocks noGrp="1"/>
          </p:cNvSpPr>
          <p:nvPr>
            <p:ph idx="1"/>
          </p:nvPr>
        </p:nvSpPr>
        <p:spPr>
          <a:xfrm>
            <a:off x="403413" y="1479176"/>
            <a:ext cx="11379615" cy="2872599"/>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5BA352A6-C99B-7B9D-93C3-83D76F505744}"/>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730329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Purple Row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3EEEE-226A-3D65-B836-617278BFD025}"/>
              </a:ext>
            </a:extLst>
          </p:cNvPr>
          <p:cNvSpPr/>
          <p:nvPr userDrawn="1"/>
        </p:nvSpPr>
        <p:spPr>
          <a:xfrm flipH="1">
            <a:off x="-2" y="0"/>
            <a:ext cx="12188825" cy="5054599"/>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6" name="Title Placeholder 1">
            <a:extLst>
              <a:ext uri="{FF2B5EF4-FFF2-40B4-BE49-F238E27FC236}">
                <a16:creationId xmlns:a16="http://schemas.microsoft.com/office/drawing/2014/main" id="{40F26685-126D-A17D-7CC3-7DE204E0779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5" name="Graphic 4">
            <a:extLst>
              <a:ext uri="{FF2B5EF4-FFF2-40B4-BE49-F238E27FC236}">
                <a16:creationId xmlns:a16="http://schemas.microsoft.com/office/drawing/2014/main" id="{C953C951-70FD-4FAB-A24F-809AF38456CD}"/>
              </a:ext>
            </a:extLst>
          </p:cNvPr>
          <p:cNvPicPr>
            <a:picLocks noChangeAspect="1"/>
          </p:cNvPicPr>
          <p:nvPr userDrawn="1"/>
        </p:nvPicPr>
        <p:blipFill rotWithShape="1">
          <a:blip>
            <a:extLst>
              <a:ext uri="{96DAC541-7B7A-43D3-8B79-37D633B846F1}">
                <asvg:svgBlip xmlns:asvg="http://schemas.microsoft.com/office/drawing/2016/SVG/main" xmlns="" r:embed="rId2"/>
              </a:ext>
            </a:extLst>
          </a:blip>
          <a:srcRect l="57753"/>
          <a:stretch/>
        </p:blipFill>
        <p:spPr>
          <a:xfrm rot="16200000" flipV="1">
            <a:off x="7674123" y="-360276"/>
            <a:ext cx="4141864" cy="5042749"/>
          </a:xfrm>
          <a:prstGeom prst="rect">
            <a:avLst/>
          </a:prstGeom>
        </p:spPr>
      </p:pic>
      <p:sp>
        <p:nvSpPr>
          <p:cNvPr id="4" name="Content Placeholder 2">
            <a:extLst>
              <a:ext uri="{FF2B5EF4-FFF2-40B4-BE49-F238E27FC236}">
                <a16:creationId xmlns:a16="http://schemas.microsoft.com/office/drawing/2014/main" id="{EA6BFEF7-7115-36BF-D3EF-DEAC94DE9015}"/>
              </a:ext>
            </a:extLst>
          </p:cNvPr>
          <p:cNvSpPr>
            <a:spLocks noGrp="1"/>
          </p:cNvSpPr>
          <p:nvPr>
            <p:ph idx="1"/>
          </p:nvPr>
        </p:nvSpPr>
        <p:spPr>
          <a:xfrm>
            <a:off x="403413" y="1479177"/>
            <a:ext cx="11379615" cy="3347348"/>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EF0CA84C-3FC2-81F5-0CEC-A7CA95D339FC}"/>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583720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558A98-681A-8546-4364-5637714309B9}"/>
              </a:ext>
            </a:extLst>
          </p:cNvPr>
          <p:cNvSpPr/>
          <p:nvPr userDrawn="1"/>
        </p:nvSpPr>
        <p:spPr>
          <a:xfrm>
            <a:off x="297593" y="5882326"/>
            <a:ext cx="1640264" cy="659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 name="Picture 2">
            <a:extLst>
              <a:ext uri="{FF2B5EF4-FFF2-40B4-BE49-F238E27FC236}">
                <a16:creationId xmlns:a16="http://schemas.microsoft.com/office/drawing/2014/main" id="{CB5504AF-9655-8EDA-F0BC-6949932C120C}"/>
              </a:ext>
            </a:extLst>
          </p:cNvPr>
          <p:cNvPicPr>
            <a:picLocks noChangeAspect="1"/>
          </p:cNvPicPr>
          <p:nvPr userDrawn="1"/>
        </p:nvPicPr>
        <p:blipFill>
          <a:blip r:embed="rId2"/>
          <a:srcRect b="28796"/>
          <a:stretch/>
        </p:blipFill>
        <p:spPr>
          <a:xfrm>
            <a:off x="-89900" y="2454993"/>
            <a:ext cx="12367368" cy="4403007"/>
          </a:xfrm>
          <a:prstGeom prst="rect">
            <a:avLst/>
          </a:prstGeom>
        </p:spPr>
      </p:pic>
      <p:cxnSp>
        <p:nvCxnSpPr>
          <p:cNvPr id="7" name="Straight Connector 6">
            <a:extLst>
              <a:ext uri="{FF2B5EF4-FFF2-40B4-BE49-F238E27FC236}">
                <a16:creationId xmlns:a16="http://schemas.microsoft.com/office/drawing/2014/main" id="{F770D29A-06CD-F2ED-6A56-6BB7F6A53BC2}"/>
              </a:ext>
            </a:extLst>
          </p:cNvPr>
          <p:cNvCxnSpPr/>
          <p:nvPr userDrawn="1"/>
        </p:nvCxnSpPr>
        <p:spPr>
          <a:xfrm>
            <a:off x="1895842" y="2973655"/>
            <a:ext cx="8334532" cy="0"/>
          </a:xfrm>
          <a:prstGeom prst="line">
            <a:avLst/>
          </a:prstGeom>
          <a:ln w="28575">
            <a:gradFill flip="none" rotWithShape="1">
              <a:gsLst>
                <a:gs pos="0">
                  <a:schemeClr val="accent5"/>
                </a:gs>
                <a:gs pos="100000">
                  <a:schemeClr val="tx1"/>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8EE46F6-61C4-80F9-FC79-7D119F7ABD87}"/>
              </a:ext>
            </a:extLst>
          </p:cNvPr>
          <p:cNvSpPr txBox="1"/>
          <p:nvPr userDrawn="1"/>
        </p:nvSpPr>
        <p:spPr>
          <a:xfrm>
            <a:off x="1754036" y="3343234"/>
            <a:ext cx="8618143" cy="1323439"/>
          </a:xfrm>
          <a:prstGeom prst="rect">
            <a:avLst/>
          </a:prstGeom>
          <a:noFill/>
        </p:spPr>
        <p:txBody>
          <a:bodyPr wrap="square">
            <a:spAutoFit/>
          </a:bodyPr>
          <a:lstStyle/>
          <a:p>
            <a:pPr algn="just"/>
            <a:r>
              <a:rPr lang="en-US" sz="1600" b="0" dirty="0">
                <a:solidFill>
                  <a:schemeClr val="tx2"/>
                </a:solidFill>
              </a:rPr>
              <a:t>At </a:t>
            </a:r>
            <a:r>
              <a:rPr lang="en-US" sz="1600" b="0" dirty="0" err="1">
                <a:solidFill>
                  <a:schemeClr val="tx2"/>
                </a:solidFill>
              </a:rPr>
              <a:t>AnitaB.org</a:t>
            </a:r>
            <a:r>
              <a:rPr lang="en-US" sz="1600" b="0" dirty="0">
                <a:solidFill>
                  <a:schemeClr val="tx2"/>
                </a:solidFill>
              </a:rPr>
              <a:t> India, our mission is to enable and equip women in tech with the tools, resources, and knowledge they need to thrive. Through innovative programs and initiatives, we empower women to chart new paths, better prepared to lead, advance, and achieve equitable compensation. We believe that when women succeed, they uplift their communities and redefine success on their terms, both professionally and personally.</a:t>
            </a:r>
            <a:endParaRPr lang="en-US" sz="1600" dirty="0"/>
          </a:p>
        </p:txBody>
      </p:sp>
      <p:pic>
        <p:nvPicPr>
          <p:cNvPr id="4" name="Google Shape;20;p18" title="Logo-02.png">
            <a:extLst>
              <a:ext uri="{FF2B5EF4-FFF2-40B4-BE49-F238E27FC236}">
                <a16:creationId xmlns:a16="http://schemas.microsoft.com/office/drawing/2014/main" id="{8A416C13-4238-D65B-F9E0-76EB91CAAC7E}"/>
              </a:ext>
            </a:extLst>
          </p:cNvPr>
          <p:cNvPicPr preferRelativeResize="0"/>
          <p:nvPr userDrawn="1"/>
        </p:nvPicPr>
        <p:blipFill>
          <a:blip r:embed="rId3">
            <a:alphaModFix/>
          </a:blip>
          <a:stretch>
            <a:fillRect/>
          </a:stretch>
        </p:blipFill>
        <p:spPr>
          <a:xfrm>
            <a:off x="4553223" y="1140796"/>
            <a:ext cx="3085555" cy="1521693"/>
          </a:xfrm>
          <a:prstGeom prst="rect">
            <a:avLst/>
          </a:prstGeom>
          <a:noFill/>
          <a:ln>
            <a:noFill/>
          </a:ln>
        </p:spPr>
      </p:pic>
    </p:spTree>
    <p:extLst>
      <p:ext uri="{BB962C8B-B14F-4D97-AF65-F5344CB8AC3E}">
        <p14:creationId xmlns:p14="http://schemas.microsoft.com/office/powerpoint/2010/main" val="749805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9178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55842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Google Shape;13;p17" title="Logo-02.png">
            <a:extLst>
              <a:ext uri="{FF2B5EF4-FFF2-40B4-BE49-F238E27FC236}">
                <a16:creationId xmlns:a16="http://schemas.microsoft.com/office/drawing/2014/main" id="{55FE444F-C25B-9EF5-7483-8ED52F7BC84D}"/>
              </a:ext>
            </a:extLst>
          </p:cNvPr>
          <p:cNvPicPr preferRelativeResize="0"/>
          <p:nvPr userDrawn="1"/>
        </p:nvPicPr>
        <p:blipFill>
          <a:blip r:embed="rId22">
            <a:alphaModFix/>
          </a:blip>
          <a:stretch>
            <a:fillRect/>
          </a:stretch>
        </p:blipFill>
        <p:spPr>
          <a:xfrm>
            <a:off x="413636" y="6116548"/>
            <a:ext cx="1062418" cy="523938"/>
          </a:xfrm>
          <a:prstGeom prst="rect">
            <a:avLst/>
          </a:prstGeom>
          <a:noFill/>
          <a:ln>
            <a:noFill/>
          </a:ln>
        </p:spPr>
      </p:pic>
      <p:sp>
        <p:nvSpPr>
          <p:cNvPr id="2" name="Title Placeholder 1">
            <a:extLst>
              <a:ext uri="{FF2B5EF4-FFF2-40B4-BE49-F238E27FC236}">
                <a16:creationId xmlns:a16="http://schemas.microsoft.com/office/drawing/2014/main" id="{4E86D6B6-D99A-0E58-2CA4-C4864728F274}"/>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0B30213D-C108-3755-D45E-D8DD10CCA671}"/>
              </a:ext>
            </a:extLst>
          </p:cNvPr>
          <p:cNvSpPr>
            <a:spLocks noGrp="1"/>
          </p:cNvSpPr>
          <p:nvPr>
            <p:ph type="body" idx="1"/>
          </p:nvPr>
        </p:nvSpPr>
        <p:spPr>
          <a:xfrm>
            <a:off x="398929" y="1453662"/>
            <a:ext cx="11384099" cy="4461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CA9891F-4284-2E7E-16B1-3335D8B5CDBF}"/>
              </a:ext>
            </a:extLst>
          </p:cNvPr>
          <p:cNvSpPr/>
          <p:nvPr userDrawn="1"/>
        </p:nvSpPr>
        <p:spPr>
          <a:xfrm rot="10800000" flipV="1">
            <a:off x="-17151" y="-8748"/>
            <a:ext cx="12221873" cy="120261"/>
          </a:xfrm>
          <a:prstGeom prst="rect">
            <a:avLst/>
          </a:prstGeom>
          <a:gradFill>
            <a:gsLst>
              <a:gs pos="0">
                <a:srgbClr val="A3238E"/>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Tree>
    <p:extLst>
      <p:ext uri="{BB962C8B-B14F-4D97-AF65-F5344CB8AC3E}">
        <p14:creationId xmlns:p14="http://schemas.microsoft.com/office/powerpoint/2010/main" val="3032097402"/>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50" r:id="rId3"/>
    <p:sldLayoutId id="2147483652" r:id="rId4"/>
    <p:sldLayoutId id="2147483654" r:id="rId5"/>
    <p:sldLayoutId id="2147483658" r:id="rId6"/>
    <p:sldLayoutId id="2147483664" r:id="rId7"/>
    <p:sldLayoutId id="2147483655" r:id="rId8"/>
    <p:sldLayoutId id="2147483657" r:id="rId9"/>
    <p:sldLayoutId id="2147483663" r:id="rId10"/>
    <p:sldLayoutId id="2147483668" r:id="rId11"/>
    <p:sldLayoutId id="2147483659" r:id="rId12"/>
    <p:sldLayoutId id="2147483662" r:id="rId13"/>
    <p:sldLayoutId id="2147483661" r:id="rId14"/>
    <p:sldLayoutId id="2147483660" r:id="rId15"/>
    <p:sldLayoutId id="2147483653" r:id="rId16"/>
    <p:sldLayoutId id="2147483656" r:id="rId17"/>
    <p:sldLayoutId id="2147483666" r:id="rId18"/>
    <p:sldLayoutId id="2147483669" r:id="rId19"/>
    <p:sldLayoutId id="2147483670" r:id="rId20"/>
  </p:sldLayoutIdLst>
  <p:txStyles>
    <p:titleStyle>
      <a:lvl1pPr algn="l" defTabSz="914400" rtl="0" eaLnBrk="1" latinLnBrk="0" hangingPunct="1">
        <a:lnSpc>
          <a:spcPct val="90000"/>
        </a:lnSpc>
        <a:spcBef>
          <a:spcPct val="0"/>
        </a:spcBef>
        <a:buNone/>
        <a:defRPr sz="4000" b="1" kern="1200">
          <a:solidFill>
            <a:schemeClr val="accent1"/>
          </a:solidFill>
          <a:latin typeface="Tw Cen MT" panose="020B06020201040206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1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20.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37B32-EA69-A165-50C0-9C0F8BF2864E}"/>
              </a:ext>
            </a:extLst>
          </p:cNvPr>
          <p:cNvSpPr>
            <a:spLocks noGrp="1"/>
          </p:cNvSpPr>
          <p:nvPr>
            <p:ph type="ctrTitle"/>
          </p:nvPr>
        </p:nvSpPr>
        <p:spPr/>
        <p:txBody>
          <a:bodyPr/>
          <a:lstStyle/>
          <a:p>
            <a:r>
              <a:rPr lang="en-US" dirty="0"/>
              <a:t>Agentic AI Bootcamp Roadmap</a:t>
            </a:r>
          </a:p>
        </p:txBody>
      </p:sp>
      <p:sp>
        <p:nvSpPr>
          <p:cNvPr id="3" name="Subtitle 2">
            <a:extLst>
              <a:ext uri="{FF2B5EF4-FFF2-40B4-BE49-F238E27FC236}">
                <a16:creationId xmlns:a16="http://schemas.microsoft.com/office/drawing/2014/main" id="{FABD0FE6-2E57-66D3-7661-2AE77DC1FC92}"/>
              </a:ext>
            </a:extLst>
          </p:cNvPr>
          <p:cNvSpPr>
            <a:spLocks noGrp="1"/>
          </p:cNvSpPr>
          <p:nvPr>
            <p:ph type="subTitle" idx="1"/>
          </p:nvPr>
        </p:nvSpPr>
        <p:spPr/>
        <p:txBody>
          <a:bodyPr/>
          <a:lstStyle/>
          <a:p>
            <a:r>
              <a:rPr lang="en-US" dirty="0" err="1">
                <a:solidFill>
                  <a:schemeClr val="accent5"/>
                </a:solidFill>
              </a:rPr>
              <a:t>AnitaB.Org</a:t>
            </a:r>
            <a:r>
              <a:rPr lang="en-US" dirty="0">
                <a:solidFill>
                  <a:schemeClr val="accent5"/>
                </a:solidFill>
              </a:rPr>
              <a:t> Mumbai Community Chapter</a:t>
            </a:r>
          </a:p>
        </p:txBody>
      </p:sp>
    </p:spTree>
    <p:extLst>
      <p:ext uri="{BB962C8B-B14F-4D97-AF65-F5344CB8AC3E}">
        <p14:creationId xmlns:p14="http://schemas.microsoft.com/office/powerpoint/2010/main" val="1357986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oogle Shape;84;p13" descr="image.png"/>
          <p:cNvPicPr preferRelativeResize="0"/>
          <p:nvPr/>
        </p:nvPicPr>
        <p:blipFill rotWithShape="1">
          <a:blip r:embed="rId3">
            <a:alphaModFix/>
          </a:blip>
          <a:srcRect/>
          <a:stretch/>
        </p:blipFill>
        <p:spPr>
          <a:xfrm>
            <a:off x="0" y="1110343"/>
            <a:ext cx="12192000" cy="4665306"/>
          </a:xfrm>
          <a:prstGeom prst="rect">
            <a:avLst/>
          </a:prstGeom>
          <a:noFill/>
          <a:ln>
            <a:noFill/>
          </a:ln>
        </p:spPr>
      </p:pic>
      <p:sp>
        <p:nvSpPr>
          <p:cNvPr id="16" name="Google Shape;85;p13"/>
          <p:cNvSpPr txBox="1"/>
          <p:nvPr/>
        </p:nvSpPr>
        <p:spPr>
          <a:xfrm>
            <a:off x="1595437" y="2307133"/>
            <a:ext cx="9001125" cy="127992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i="0" u="none" strike="noStrike" cap="none">
                <a:solidFill>
                  <a:srgbClr val="F8FAFC"/>
                </a:solidFill>
                <a:latin typeface="Poppins"/>
                <a:ea typeface="Poppins"/>
                <a:cs typeface="Poppins"/>
                <a:sym typeface="Poppins"/>
              </a:rPr>
              <a:t>AI Teams with a "Long-Term Brain"</a:t>
            </a:r>
            <a:endParaRPr/>
          </a:p>
        </p:txBody>
      </p:sp>
      <p:sp>
        <p:nvSpPr>
          <p:cNvPr id="17" name="Google Shape;86;p13"/>
          <p:cNvSpPr/>
          <p:nvPr/>
        </p:nvSpPr>
        <p:spPr>
          <a:xfrm>
            <a:off x="5715000" y="3875215"/>
            <a:ext cx="762000" cy="45719"/>
          </a:xfrm>
          <a:prstGeom prst="roundRect">
            <a:avLst>
              <a:gd name="adj" fmla="val 50000"/>
            </a:avLst>
          </a:prstGeom>
          <a:solidFill>
            <a:srgbClr val="6366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 name="Google Shape;87;p13"/>
          <p:cNvSpPr txBox="1"/>
          <p:nvPr/>
        </p:nvSpPr>
        <p:spPr>
          <a:xfrm>
            <a:off x="1809750" y="4215705"/>
            <a:ext cx="85725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F8FAFC"/>
                </a:solidFill>
                <a:latin typeface="Lato"/>
                <a:ea typeface="Lato"/>
                <a:cs typeface="Lato"/>
                <a:sym typeface="Lato"/>
              </a:rPr>
              <a:t>A Simple, Beginner-Friendly Guide to How We Build Smart, Crash-Proof AI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Google Shape;92;p14" descr="image.png"/>
          <p:cNvPicPr preferRelativeResize="0"/>
          <p:nvPr/>
        </p:nvPicPr>
        <p:blipFill rotWithShape="1">
          <a:blip r:embed="rId2">
            <a:alphaModFix/>
          </a:blip>
          <a:srcRect/>
          <a:stretch/>
        </p:blipFill>
        <p:spPr>
          <a:xfrm>
            <a:off x="0" y="1063690"/>
            <a:ext cx="12192000" cy="4236098"/>
          </a:xfrm>
          <a:prstGeom prst="rect">
            <a:avLst/>
          </a:prstGeom>
          <a:noFill/>
          <a:ln>
            <a:noFill/>
          </a:ln>
        </p:spPr>
      </p:pic>
      <p:sp>
        <p:nvSpPr>
          <p:cNvPr id="44" name="Google Shape;93;p14"/>
          <p:cNvSpPr txBox="1"/>
          <p:nvPr/>
        </p:nvSpPr>
        <p:spPr>
          <a:xfrm>
            <a:off x="2125503" y="3036540"/>
            <a:ext cx="7940992" cy="742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0" i="0" u="none" strike="noStrike" cap="none">
                <a:solidFill>
                  <a:srgbClr val="F8FAFC"/>
                </a:solidFill>
                <a:latin typeface="Poppins SemiBold"/>
                <a:ea typeface="Poppins SemiBold"/>
                <a:cs typeface="Poppins SemiBold"/>
                <a:sym typeface="Poppins SemiBold"/>
              </a:rPr>
              <a:t>Part 1: The AI Memory Problem</a:t>
            </a:r>
            <a:endParaRPr/>
          </a:p>
        </p:txBody>
      </p:sp>
      <p:sp>
        <p:nvSpPr>
          <p:cNvPr id="45" name="Google Shape;94;p14"/>
          <p:cNvSpPr txBox="1"/>
          <p:nvPr/>
        </p:nvSpPr>
        <p:spPr>
          <a:xfrm>
            <a:off x="2314575" y="3969990"/>
            <a:ext cx="756285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Lato"/>
                <a:ea typeface="Lato"/>
                <a:cs typeface="Lato"/>
                <a:sym typeface="Lato"/>
              </a:rPr>
              <a:t>Why do standard AI assistants feel like they have a short attention span?</a:t>
            </a:r>
            <a:endParaRPr/>
          </a:p>
        </p:txBody>
      </p:sp>
    </p:spTree>
    <p:extLst>
      <p:ext uri="{BB962C8B-B14F-4D97-AF65-F5344CB8AC3E}">
        <p14:creationId xmlns:p14="http://schemas.microsoft.com/office/powerpoint/2010/main" val="2399769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oogle Shape;99;p15" descr="image.png"/>
          <p:cNvPicPr preferRelativeResize="0"/>
          <p:nvPr/>
        </p:nvPicPr>
        <p:blipFill rotWithShape="1">
          <a:blip r:embed="rId2">
            <a:alphaModFix/>
          </a:blip>
          <a:srcRect/>
          <a:stretch/>
        </p:blipFill>
        <p:spPr>
          <a:xfrm>
            <a:off x="0" y="1082351"/>
            <a:ext cx="12192000" cy="4665306"/>
          </a:xfrm>
          <a:prstGeom prst="rect">
            <a:avLst/>
          </a:prstGeom>
          <a:noFill/>
          <a:ln>
            <a:noFill/>
          </a:ln>
        </p:spPr>
      </p:pic>
      <p:pic>
        <p:nvPicPr>
          <p:cNvPr id="37" name="Google Shape;100;p15" descr="image.png"/>
          <p:cNvPicPr preferRelativeResize="0"/>
          <p:nvPr/>
        </p:nvPicPr>
        <p:blipFill rotWithShape="1">
          <a:blip r:embed="rId3">
            <a:alphaModFix/>
          </a:blip>
          <a:srcRect/>
          <a:stretch/>
        </p:blipFill>
        <p:spPr>
          <a:xfrm>
            <a:off x="762000" y="3173846"/>
            <a:ext cx="5143500" cy="1330847"/>
          </a:xfrm>
          <a:prstGeom prst="rect">
            <a:avLst/>
          </a:prstGeom>
          <a:noFill/>
          <a:ln>
            <a:noFill/>
          </a:ln>
        </p:spPr>
      </p:pic>
      <p:pic>
        <p:nvPicPr>
          <p:cNvPr id="68" name="Google Shape;101;p15" descr="image.png"/>
          <p:cNvPicPr preferRelativeResize="0"/>
          <p:nvPr/>
        </p:nvPicPr>
        <p:blipFill rotWithShape="1">
          <a:blip r:embed="rId3">
            <a:alphaModFix/>
          </a:blip>
          <a:srcRect/>
          <a:stretch/>
        </p:blipFill>
        <p:spPr>
          <a:xfrm>
            <a:off x="6286500" y="3173846"/>
            <a:ext cx="5143500" cy="1330847"/>
          </a:xfrm>
          <a:prstGeom prst="rect">
            <a:avLst/>
          </a:prstGeom>
          <a:noFill/>
          <a:ln>
            <a:noFill/>
          </a:ln>
        </p:spPr>
      </p:pic>
      <p:sp>
        <p:nvSpPr>
          <p:cNvPr id="69" name="Google Shape;102;p15"/>
          <p:cNvSpPr txBox="1"/>
          <p:nvPr/>
        </p:nvSpPr>
        <p:spPr>
          <a:xfrm>
            <a:off x="1104900" y="3207990"/>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1. The "Short-Term" Memory</a:t>
            </a:r>
            <a:endParaRPr/>
          </a:p>
        </p:txBody>
      </p:sp>
      <p:sp>
        <p:nvSpPr>
          <p:cNvPr id="70" name="Google Shape;103;p15"/>
          <p:cNvSpPr txBox="1"/>
          <p:nvPr/>
        </p:nvSpPr>
        <p:spPr>
          <a:xfrm>
            <a:off x="1104900" y="3655665"/>
            <a:ext cx="44577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Standard AIs only remember what you write in the current chat. As soon as you close the window, it forgets everything you just spent hours explaining to it.</a:t>
            </a:r>
            <a:endParaRPr/>
          </a:p>
        </p:txBody>
      </p:sp>
      <p:sp>
        <p:nvSpPr>
          <p:cNvPr id="71" name="Google Shape;104;p15"/>
          <p:cNvSpPr txBox="1"/>
          <p:nvPr/>
        </p:nvSpPr>
        <p:spPr>
          <a:xfrm>
            <a:off x="6629400" y="3207990"/>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2. The "Guessing" Trap</a:t>
            </a:r>
            <a:endParaRPr/>
          </a:p>
        </p:txBody>
      </p:sp>
      <p:sp>
        <p:nvSpPr>
          <p:cNvPr id="72" name="Google Shape;105;p15"/>
          <p:cNvSpPr txBox="1"/>
          <p:nvPr/>
        </p:nvSpPr>
        <p:spPr>
          <a:xfrm>
            <a:off x="6629400" y="3655665"/>
            <a:ext cx="44577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When an AI does not know the specific details about your business, it hates to admit it. Instead, it makes up incredibly convincing lies (called hallucinations).</a:t>
            </a:r>
            <a:endParaRPr/>
          </a:p>
        </p:txBody>
      </p:sp>
      <p:sp>
        <p:nvSpPr>
          <p:cNvPr id="73" name="Google Shape;106;p15"/>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Standard AI Struggles</a:t>
            </a:r>
            <a:endParaRPr/>
          </a:p>
        </p:txBody>
      </p:sp>
      <p:sp>
        <p:nvSpPr>
          <p:cNvPr id="74" name="Google Shape;107;p15"/>
          <p:cNvSpPr/>
          <p:nvPr/>
        </p:nvSpPr>
        <p:spPr>
          <a:xfrm>
            <a:off x="762000" y="657186"/>
            <a:ext cx="57150" cy="369337"/>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348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12;p16" descr="image.png"/>
          <p:cNvPicPr preferRelativeResize="0"/>
          <p:nvPr/>
        </p:nvPicPr>
        <p:blipFill rotWithShape="1">
          <a:blip r:embed="rId2">
            <a:alphaModFix/>
          </a:blip>
          <a:srcRect/>
          <a:stretch/>
        </p:blipFill>
        <p:spPr>
          <a:xfrm>
            <a:off x="0" y="1026366"/>
            <a:ext cx="12192000" cy="4767943"/>
          </a:xfrm>
          <a:prstGeom prst="rect">
            <a:avLst/>
          </a:prstGeom>
          <a:noFill/>
          <a:ln>
            <a:noFill/>
          </a:ln>
        </p:spPr>
      </p:pic>
      <p:pic>
        <p:nvPicPr>
          <p:cNvPr id="57" name="Google Shape;113;p16" descr="image.png"/>
          <p:cNvPicPr preferRelativeResize="0"/>
          <p:nvPr/>
        </p:nvPicPr>
        <p:blipFill rotWithShape="1">
          <a:blip r:embed="rId3">
            <a:alphaModFix/>
          </a:blip>
          <a:srcRect/>
          <a:stretch/>
        </p:blipFill>
        <p:spPr>
          <a:xfrm>
            <a:off x="762000" y="2828266"/>
            <a:ext cx="3365450" cy="2014373"/>
          </a:xfrm>
          <a:prstGeom prst="rect">
            <a:avLst/>
          </a:prstGeom>
          <a:noFill/>
          <a:ln>
            <a:noFill/>
          </a:ln>
        </p:spPr>
      </p:pic>
      <p:pic>
        <p:nvPicPr>
          <p:cNvPr id="58" name="Google Shape;114;p16" descr="image.png"/>
          <p:cNvPicPr preferRelativeResize="0"/>
          <p:nvPr/>
        </p:nvPicPr>
        <p:blipFill rotWithShape="1">
          <a:blip r:embed="rId4">
            <a:alphaModFix/>
          </a:blip>
          <a:srcRect/>
          <a:stretch/>
        </p:blipFill>
        <p:spPr>
          <a:xfrm>
            <a:off x="4413200" y="2828266"/>
            <a:ext cx="3365450" cy="2014373"/>
          </a:xfrm>
          <a:prstGeom prst="rect">
            <a:avLst/>
          </a:prstGeom>
          <a:noFill/>
          <a:ln>
            <a:noFill/>
          </a:ln>
        </p:spPr>
      </p:pic>
      <p:pic>
        <p:nvPicPr>
          <p:cNvPr id="59" name="Google Shape;115;p16" descr="image.png"/>
          <p:cNvPicPr preferRelativeResize="0"/>
          <p:nvPr/>
        </p:nvPicPr>
        <p:blipFill rotWithShape="1">
          <a:blip r:embed="rId5">
            <a:alphaModFix/>
          </a:blip>
          <a:srcRect/>
          <a:stretch/>
        </p:blipFill>
        <p:spPr>
          <a:xfrm>
            <a:off x="8064400" y="2828266"/>
            <a:ext cx="3365450" cy="2014373"/>
          </a:xfrm>
          <a:prstGeom prst="rect">
            <a:avLst/>
          </a:prstGeom>
          <a:noFill/>
          <a:ln>
            <a:noFill/>
          </a:ln>
        </p:spPr>
      </p:pic>
      <p:sp>
        <p:nvSpPr>
          <p:cNvPr id="60" name="Google Shape;116;p16"/>
          <p:cNvSpPr txBox="1"/>
          <p:nvPr/>
        </p:nvSpPr>
        <p:spPr>
          <a:xfrm>
            <a:off x="937896" y="3404294"/>
            <a:ext cx="3013657"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E293B"/>
                </a:solidFill>
                <a:latin typeface="Poppins SemiBold"/>
                <a:ea typeface="Poppins SemiBold"/>
                <a:cs typeface="Poppins SemiBold"/>
                <a:sym typeface="Poppins SemiBold"/>
              </a:rPr>
              <a:t>GraphRAG Memory</a:t>
            </a:r>
            <a:endParaRPr/>
          </a:p>
        </p:txBody>
      </p:sp>
      <p:sp>
        <p:nvSpPr>
          <p:cNvPr id="61" name="Google Shape;117;p16"/>
          <p:cNvSpPr txBox="1"/>
          <p:nvPr/>
        </p:nvSpPr>
        <p:spPr>
          <a:xfrm>
            <a:off x="1009650" y="3851969"/>
            <a:ext cx="2870150"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A smart filing system that links facts together like a social network, helping the AI understand exact relationships.</a:t>
            </a:r>
            <a:endParaRPr/>
          </a:p>
        </p:txBody>
      </p:sp>
      <p:sp>
        <p:nvSpPr>
          <p:cNvPr id="62" name="Google Shape;118;p16"/>
          <p:cNvSpPr txBox="1"/>
          <p:nvPr/>
        </p:nvSpPr>
        <p:spPr>
          <a:xfrm>
            <a:off x="4589096" y="3404294"/>
            <a:ext cx="3013657"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E293B"/>
                </a:solidFill>
                <a:latin typeface="Poppins SemiBold"/>
                <a:ea typeface="Poppins SemiBold"/>
                <a:cs typeface="Poppins SemiBold"/>
                <a:sym typeface="Poppins SemiBold"/>
              </a:rPr>
              <a:t>Semantic Cache</a:t>
            </a:r>
            <a:endParaRPr/>
          </a:p>
        </p:txBody>
      </p:sp>
      <p:sp>
        <p:nvSpPr>
          <p:cNvPr id="63" name="Google Shape;119;p16"/>
          <p:cNvSpPr txBox="1"/>
          <p:nvPr/>
        </p:nvSpPr>
        <p:spPr>
          <a:xfrm>
            <a:off x="4660850" y="3851969"/>
            <a:ext cx="287015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A "cheat sheet" of questions we already answered. It helps the AI respond in milliseconds and saves money.</a:t>
            </a:r>
            <a:endParaRPr/>
          </a:p>
        </p:txBody>
      </p:sp>
      <p:sp>
        <p:nvSpPr>
          <p:cNvPr id="64" name="Google Shape;120;p16"/>
          <p:cNvSpPr txBox="1"/>
          <p:nvPr/>
        </p:nvSpPr>
        <p:spPr>
          <a:xfrm>
            <a:off x="8240297" y="3404294"/>
            <a:ext cx="3013657"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E293B"/>
                </a:solidFill>
                <a:latin typeface="Poppins SemiBold"/>
                <a:ea typeface="Poppins SemiBold"/>
                <a:cs typeface="Poppins SemiBold"/>
                <a:sym typeface="Poppins SemiBold"/>
              </a:rPr>
              <a:t>Checkpointing</a:t>
            </a:r>
            <a:endParaRPr/>
          </a:p>
        </p:txBody>
      </p:sp>
      <p:sp>
        <p:nvSpPr>
          <p:cNvPr id="65" name="Google Shape;121;p16"/>
          <p:cNvSpPr txBox="1"/>
          <p:nvPr/>
        </p:nvSpPr>
        <p:spPr>
          <a:xfrm>
            <a:off x="8312050" y="3851969"/>
            <a:ext cx="2870150"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An automatic "save-game" marker. If the system crashes midway, the AI picks up right where it left off.</a:t>
            </a:r>
            <a:endParaRPr/>
          </a:p>
        </p:txBody>
      </p:sp>
      <p:pic>
        <p:nvPicPr>
          <p:cNvPr id="66" name="Google Shape;122;p16" descr="image.png"/>
          <p:cNvPicPr preferRelativeResize="0"/>
          <p:nvPr/>
        </p:nvPicPr>
        <p:blipFill rotWithShape="1">
          <a:blip r:embed="rId6">
            <a:alphaModFix/>
          </a:blip>
          <a:srcRect/>
          <a:stretch/>
        </p:blipFill>
        <p:spPr>
          <a:xfrm>
            <a:off x="2244625" y="2835515"/>
            <a:ext cx="400050" cy="278130"/>
          </a:xfrm>
          <a:prstGeom prst="rect">
            <a:avLst/>
          </a:prstGeom>
          <a:noFill/>
          <a:ln>
            <a:noFill/>
          </a:ln>
        </p:spPr>
      </p:pic>
      <p:pic>
        <p:nvPicPr>
          <p:cNvPr id="67" name="Google Shape;123;p16" descr="image.png"/>
          <p:cNvPicPr preferRelativeResize="0"/>
          <p:nvPr/>
        </p:nvPicPr>
        <p:blipFill rotWithShape="1">
          <a:blip r:embed="rId7">
            <a:alphaModFix/>
          </a:blip>
          <a:srcRect/>
          <a:stretch/>
        </p:blipFill>
        <p:spPr>
          <a:xfrm>
            <a:off x="5919638" y="2835515"/>
            <a:ext cx="352425" cy="278130"/>
          </a:xfrm>
          <a:prstGeom prst="rect">
            <a:avLst/>
          </a:prstGeom>
          <a:noFill/>
          <a:ln>
            <a:noFill/>
          </a:ln>
        </p:spPr>
      </p:pic>
      <p:pic>
        <p:nvPicPr>
          <p:cNvPr id="68" name="Google Shape;124;p16" descr="image.png"/>
          <p:cNvPicPr preferRelativeResize="0"/>
          <p:nvPr/>
        </p:nvPicPr>
        <p:blipFill rotWithShape="1">
          <a:blip r:embed="rId8">
            <a:alphaModFix/>
          </a:blip>
          <a:srcRect/>
          <a:stretch/>
        </p:blipFill>
        <p:spPr>
          <a:xfrm>
            <a:off x="9570839" y="2835515"/>
            <a:ext cx="352425" cy="278130"/>
          </a:xfrm>
          <a:prstGeom prst="rect">
            <a:avLst/>
          </a:prstGeom>
          <a:noFill/>
          <a:ln>
            <a:noFill/>
          </a:ln>
        </p:spPr>
      </p:pic>
      <p:sp>
        <p:nvSpPr>
          <p:cNvPr id="69" name="Google Shape;125;p16"/>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Three Keys to a Smarter AI</a:t>
            </a:r>
            <a:endParaRPr/>
          </a:p>
        </p:txBody>
      </p:sp>
      <p:sp>
        <p:nvSpPr>
          <p:cNvPr id="70" name="Google Shape;126;p16"/>
          <p:cNvSpPr/>
          <p:nvPr/>
        </p:nvSpPr>
        <p:spPr>
          <a:xfrm>
            <a:off x="762000" y="652755"/>
            <a:ext cx="57150" cy="377462"/>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8449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Google Shape;131;p17" descr="image.png"/>
          <p:cNvPicPr preferRelativeResize="0"/>
          <p:nvPr/>
        </p:nvPicPr>
        <p:blipFill rotWithShape="1">
          <a:blip r:embed="rId2">
            <a:alphaModFix/>
          </a:blip>
          <a:srcRect/>
          <a:stretch/>
        </p:blipFill>
        <p:spPr>
          <a:xfrm>
            <a:off x="0" y="1091682"/>
            <a:ext cx="12192000" cy="4655975"/>
          </a:xfrm>
          <a:prstGeom prst="rect">
            <a:avLst/>
          </a:prstGeom>
          <a:noFill/>
          <a:ln>
            <a:noFill/>
          </a:ln>
        </p:spPr>
      </p:pic>
      <p:pic>
        <p:nvPicPr>
          <p:cNvPr id="36" name="Google Shape;132;p17" descr="image.png"/>
          <p:cNvPicPr preferRelativeResize="0"/>
          <p:nvPr/>
        </p:nvPicPr>
        <p:blipFill rotWithShape="1">
          <a:blip r:embed="rId3">
            <a:alphaModFix/>
          </a:blip>
          <a:srcRect/>
          <a:stretch/>
        </p:blipFill>
        <p:spPr>
          <a:xfrm>
            <a:off x="6286500" y="2609753"/>
            <a:ext cx="5143500" cy="2457320"/>
          </a:xfrm>
          <a:prstGeom prst="rect">
            <a:avLst/>
          </a:prstGeom>
          <a:noFill/>
          <a:ln>
            <a:noFill/>
          </a:ln>
        </p:spPr>
      </p:pic>
      <p:sp>
        <p:nvSpPr>
          <p:cNvPr id="37" name="Google Shape;133;p17"/>
          <p:cNvSpPr txBox="1"/>
          <p:nvPr/>
        </p:nvSpPr>
        <p:spPr>
          <a:xfrm>
            <a:off x="762000" y="2803177"/>
            <a:ext cx="540067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4F46E5"/>
                </a:solidFill>
                <a:latin typeface="Poppins SemiBold"/>
                <a:ea typeface="Poppins SemiBold"/>
                <a:cs typeface="Poppins SemiBold"/>
                <a:sym typeface="Poppins SemiBold"/>
              </a:rPr>
              <a:t>Filing the Knowledge Base</a:t>
            </a:r>
            <a:endParaRPr/>
          </a:p>
        </p:txBody>
      </p:sp>
      <p:sp>
        <p:nvSpPr>
          <p:cNvPr id="38" name="Google Shape;134;p17"/>
          <p:cNvSpPr txBox="1"/>
          <p:nvPr/>
        </p:nvSpPr>
        <p:spPr>
          <a:xfrm>
            <a:off x="762000" y="3250852"/>
            <a:ext cx="5143500" cy="8323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Before our AI can answer questions, we run a loader script named knowledge_base.py. This takes raw company documents and organizes them into two distinct filing cabinets:</a:t>
            </a:r>
            <a:endParaRPr/>
          </a:p>
        </p:txBody>
      </p:sp>
      <p:sp>
        <p:nvSpPr>
          <p:cNvPr id="40" name="Google Shape;136;p17"/>
          <p:cNvSpPr txBox="1"/>
          <p:nvPr/>
        </p:nvSpPr>
        <p:spPr>
          <a:xfrm>
            <a:off x="1224546" y="4186147"/>
            <a:ext cx="8251955"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dirty="0">
                <a:solidFill>
                  <a:srgbClr val="0F172A"/>
                </a:solidFill>
                <a:latin typeface="Lato"/>
                <a:ea typeface="Lato"/>
                <a:cs typeface="Lato"/>
                <a:sym typeface="Lato"/>
              </a:rPr>
              <a:t>The Relationship Map (Neo4j):</a:t>
            </a:r>
            <a:r>
              <a:rPr lang="en-US" sz="1200" b="0" i="0" u="none" strike="noStrike" cap="none" dirty="0">
                <a:solidFill>
                  <a:srgbClr val="334155"/>
                </a:solidFill>
                <a:latin typeface="Lato"/>
                <a:ea typeface="Lato"/>
                <a:cs typeface="Lato"/>
                <a:sym typeface="Lato"/>
              </a:rPr>
              <a:t> Organizes people, companies, and roles.</a:t>
            </a:r>
            <a:endParaRPr dirty="0"/>
          </a:p>
        </p:txBody>
      </p:sp>
      <p:sp>
        <p:nvSpPr>
          <p:cNvPr id="41" name="Google Shape;137;p17"/>
          <p:cNvSpPr txBox="1"/>
          <p:nvPr/>
        </p:nvSpPr>
        <p:spPr>
          <a:xfrm>
            <a:off x="1224546" y="4566047"/>
            <a:ext cx="7057636"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dirty="0">
                <a:solidFill>
                  <a:srgbClr val="0F172A"/>
                </a:solidFill>
                <a:latin typeface="Lato"/>
                <a:ea typeface="Lato"/>
                <a:cs typeface="Lato"/>
                <a:sym typeface="Lato"/>
              </a:rPr>
              <a:t>The Meaning Index (Pinecone):</a:t>
            </a:r>
            <a:r>
              <a:rPr lang="en-US" sz="1200" b="0" i="0" u="none" strike="noStrike" cap="none" dirty="0">
                <a:solidFill>
                  <a:srgbClr val="334155"/>
                </a:solidFill>
                <a:latin typeface="Lato"/>
                <a:ea typeface="Lato"/>
                <a:cs typeface="Lato"/>
                <a:sym typeface="Lato"/>
              </a:rPr>
              <a:t> Stores paragraphs based on their semantic topic.</a:t>
            </a:r>
            <a:endParaRPr dirty="0"/>
          </a:p>
        </p:txBody>
      </p:sp>
      <p:pic>
        <p:nvPicPr>
          <p:cNvPr id="42" name="Google Shape;138;p17" descr="image.png"/>
          <p:cNvPicPr preferRelativeResize="0"/>
          <p:nvPr/>
        </p:nvPicPr>
        <p:blipFill rotWithShape="1">
          <a:blip r:embed="rId4">
            <a:alphaModFix/>
          </a:blip>
          <a:srcRect/>
          <a:stretch/>
        </p:blipFill>
        <p:spPr>
          <a:xfrm>
            <a:off x="790575" y="4286274"/>
            <a:ext cx="190500" cy="122866"/>
          </a:xfrm>
          <a:prstGeom prst="rect">
            <a:avLst/>
          </a:prstGeom>
          <a:noFill/>
          <a:ln>
            <a:noFill/>
          </a:ln>
        </p:spPr>
      </p:pic>
      <p:pic>
        <p:nvPicPr>
          <p:cNvPr id="43" name="Google Shape;139;p17" descr="image.png"/>
          <p:cNvPicPr preferRelativeResize="0"/>
          <p:nvPr/>
        </p:nvPicPr>
        <p:blipFill rotWithShape="1">
          <a:blip r:embed="rId5">
            <a:alphaModFix/>
          </a:blip>
          <a:srcRect/>
          <a:stretch/>
        </p:blipFill>
        <p:spPr>
          <a:xfrm>
            <a:off x="790575" y="4641468"/>
            <a:ext cx="190500" cy="122866"/>
          </a:xfrm>
          <a:prstGeom prst="rect">
            <a:avLst/>
          </a:prstGeom>
          <a:noFill/>
          <a:ln>
            <a:noFill/>
          </a:ln>
        </p:spPr>
      </p:pic>
      <p:sp>
        <p:nvSpPr>
          <p:cNvPr id="44" name="Google Shape;140;p17"/>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Preparing the Brain</a:t>
            </a:r>
            <a:endParaRPr/>
          </a:p>
        </p:txBody>
      </p:sp>
      <p:sp>
        <p:nvSpPr>
          <p:cNvPr id="45" name="Google Shape;141;p17"/>
          <p:cNvSpPr/>
          <p:nvPr/>
        </p:nvSpPr>
        <p:spPr>
          <a:xfrm>
            <a:off x="762000" y="657925"/>
            <a:ext cx="57150" cy="368598"/>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7969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Google Shape;146;p18" descr="image.png"/>
          <p:cNvPicPr preferRelativeResize="0"/>
          <p:nvPr/>
        </p:nvPicPr>
        <p:blipFill rotWithShape="1">
          <a:blip r:embed="rId3">
            <a:alphaModFix/>
          </a:blip>
          <a:srcRect/>
          <a:stretch/>
        </p:blipFill>
        <p:spPr>
          <a:xfrm>
            <a:off x="0" y="979714"/>
            <a:ext cx="12192000" cy="4907902"/>
          </a:xfrm>
          <a:prstGeom prst="rect">
            <a:avLst/>
          </a:prstGeom>
          <a:noFill/>
          <a:ln>
            <a:noFill/>
          </a:ln>
        </p:spPr>
      </p:pic>
      <p:pic>
        <p:nvPicPr>
          <p:cNvPr id="75" name="Google Shape;147;p18" descr="image.png"/>
          <p:cNvPicPr preferRelativeResize="0"/>
          <p:nvPr/>
        </p:nvPicPr>
        <p:blipFill rotWithShape="1">
          <a:blip r:embed="rId4">
            <a:alphaModFix/>
          </a:blip>
          <a:srcRect/>
          <a:stretch/>
        </p:blipFill>
        <p:spPr>
          <a:xfrm>
            <a:off x="762000" y="3046682"/>
            <a:ext cx="5143500" cy="1596346"/>
          </a:xfrm>
          <a:prstGeom prst="rect">
            <a:avLst/>
          </a:prstGeom>
          <a:noFill/>
          <a:ln>
            <a:noFill/>
          </a:ln>
        </p:spPr>
      </p:pic>
      <p:pic>
        <p:nvPicPr>
          <p:cNvPr id="76" name="Google Shape;148;p18" descr="image.png"/>
          <p:cNvPicPr preferRelativeResize="0"/>
          <p:nvPr/>
        </p:nvPicPr>
        <p:blipFill rotWithShape="1">
          <a:blip r:embed="rId5">
            <a:alphaModFix/>
          </a:blip>
          <a:srcRect/>
          <a:stretch/>
        </p:blipFill>
        <p:spPr>
          <a:xfrm>
            <a:off x="6286500" y="3046682"/>
            <a:ext cx="5143500" cy="1596346"/>
          </a:xfrm>
          <a:prstGeom prst="rect">
            <a:avLst/>
          </a:prstGeom>
          <a:noFill/>
          <a:ln>
            <a:noFill/>
          </a:ln>
        </p:spPr>
      </p:pic>
      <p:sp>
        <p:nvSpPr>
          <p:cNvPr id="77" name="Google Shape;149;p18"/>
          <p:cNvSpPr txBox="1"/>
          <p:nvPr/>
        </p:nvSpPr>
        <p:spPr>
          <a:xfrm>
            <a:off x="1104900" y="3207990"/>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The "Nodes" (Who or What)</a:t>
            </a:r>
            <a:endParaRPr/>
          </a:p>
        </p:txBody>
      </p:sp>
      <p:sp>
        <p:nvSpPr>
          <p:cNvPr id="78" name="Google Shape;150;p18"/>
          <p:cNvSpPr txBox="1"/>
          <p:nvPr/>
        </p:nvSpPr>
        <p:spPr>
          <a:xfrm>
            <a:off x="1104900" y="3655665"/>
            <a:ext cx="44577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These are the individual cards in the system. Our script creates cards for people (like Sarah Chen) and companies (like Acme Corp or Google).</a:t>
            </a:r>
            <a:endParaRPr/>
          </a:p>
        </p:txBody>
      </p:sp>
      <p:sp>
        <p:nvSpPr>
          <p:cNvPr id="79" name="Google Shape;151;p18"/>
          <p:cNvSpPr txBox="1"/>
          <p:nvPr/>
        </p:nvSpPr>
        <p:spPr>
          <a:xfrm>
            <a:off x="6629400" y="3070919"/>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The "Relationships" (How They Link)</a:t>
            </a:r>
            <a:endParaRPr/>
          </a:p>
        </p:txBody>
      </p:sp>
      <p:sp>
        <p:nvSpPr>
          <p:cNvPr id="80" name="Google Shape;152;p18"/>
          <p:cNvSpPr txBox="1"/>
          <p:nvPr/>
        </p:nvSpPr>
        <p:spPr>
          <a:xfrm>
            <a:off x="6629400" y="3518594"/>
            <a:ext cx="4457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These are the strings that connect cards. Rather than guessing, the AI knows for a fact that "Sarah Chen" --[CEO_OF]--&gt; "Acme Corp" because we drew a line between them.</a:t>
            </a:r>
            <a:endParaRPr/>
          </a:p>
        </p:txBody>
      </p:sp>
      <p:sp>
        <p:nvSpPr>
          <p:cNvPr id="81" name="Google Shape;153;p18"/>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The Connections Map (Neo4j)</a:t>
            </a:r>
            <a:endParaRPr/>
          </a:p>
        </p:txBody>
      </p:sp>
      <p:sp>
        <p:nvSpPr>
          <p:cNvPr id="82" name="Google Shape;154;p18"/>
          <p:cNvSpPr/>
          <p:nvPr/>
        </p:nvSpPr>
        <p:spPr>
          <a:xfrm>
            <a:off x="762000" y="649061"/>
            <a:ext cx="57150" cy="388542"/>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6340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Google Shape;159;p19" descr="image.png"/>
          <p:cNvPicPr preferRelativeResize="0"/>
          <p:nvPr/>
        </p:nvPicPr>
        <p:blipFill rotWithShape="1">
          <a:blip r:embed="rId2">
            <a:alphaModFix/>
          </a:blip>
          <a:srcRect/>
          <a:stretch/>
        </p:blipFill>
        <p:spPr>
          <a:xfrm>
            <a:off x="0" y="653143"/>
            <a:ext cx="12192000" cy="5187820"/>
          </a:xfrm>
          <a:prstGeom prst="rect">
            <a:avLst/>
          </a:prstGeom>
          <a:noFill/>
          <a:ln>
            <a:noFill/>
          </a:ln>
        </p:spPr>
      </p:pic>
      <p:pic>
        <p:nvPicPr>
          <p:cNvPr id="22" name="Google Shape;160;p19" descr="image.png"/>
          <p:cNvPicPr preferRelativeResize="0"/>
          <p:nvPr/>
        </p:nvPicPr>
        <p:blipFill rotWithShape="1">
          <a:blip r:embed="rId3">
            <a:alphaModFix/>
          </a:blip>
          <a:srcRect/>
          <a:stretch/>
        </p:blipFill>
        <p:spPr>
          <a:xfrm>
            <a:off x="762000" y="2871787"/>
            <a:ext cx="4632573" cy="1815737"/>
          </a:xfrm>
          <a:prstGeom prst="rect">
            <a:avLst/>
          </a:prstGeom>
          <a:noFill/>
          <a:ln>
            <a:noFill/>
          </a:ln>
        </p:spPr>
      </p:pic>
      <p:sp>
        <p:nvSpPr>
          <p:cNvPr id="23" name="Google Shape;161;p19"/>
          <p:cNvSpPr txBox="1"/>
          <p:nvPr/>
        </p:nvSpPr>
        <p:spPr>
          <a:xfrm>
            <a:off x="1143000" y="3119437"/>
            <a:ext cx="3870573"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FFFFFF"/>
                </a:solidFill>
                <a:latin typeface="Poppins"/>
                <a:ea typeface="Poppins"/>
                <a:cs typeface="Poppins"/>
                <a:sym typeface="Poppins"/>
              </a:rPr>
              <a:t>384</a:t>
            </a:r>
            <a:endParaRPr/>
          </a:p>
        </p:txBody>
      </p:sp>
      <p:sp>
        <p:nvSpPr>
          <p:cNvPr id="24" name="Google Shape;162;p19"/>
          <p:cNvSpPr txBox="1"/>
          <p:nvPr/>
        </p:nvSpPr>
        <p:spPr>
          <a:xfrm>
            <a:off x="1143000" y="4310062"/>
            <a:ext cx="3870573"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E0E7FF"/>
                </a:solidFill>
                <a:latin typeface="Lato"/>
                <a:ea typeface="Lato"/>
                <a:cs typeface="Lato"/>
                <a:sym typeface="Lato"/>
              </a:rPr>
              <a:t>Code Dimensions</a:t>
            </a:r>
            <a:endParaRPr/>
          </a:p>
        </p:txBody>
      </p:sp>
      <p:sp>
        <p:nvSpPr>
          <p:cNvPr id="25" name="Google Shape;163;p19"/>
          <p:cNvSpPr txBox="1"/>
          <p:nvPr/>
        </p:nvSpPr>
        <p:spPr>
          <a:xfrm>
            <a:off x="5870823" y="2900362"/>
            <a:ext cx="583713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4F46E5"/>
                </a:solidFill>
                <a:latin typeface="Poppins SemiBold"/>
                <a:ea typeface="Poppins SemiBold"/>
                <a:cs typeface="Poppins SemiBold"/>
                <a:sym typeface="Poppins SemiBold"/>
              </a:rPr>
              <a:t>Looking Beyond Exact Words</a:t>
            </a:r>
            <a:endParaRPr/>
          </a:p>
        </p:txBody>
      </p:sp>
      <p:sp>
        <p:nvSpPr>
          <p:cNvPr id="26" name="Google Shape;164;p19"/>
          <p:cNvSpPr txBox="1"/>
          <p:nvPr/>
        </p:nvSpPr>
        <p:spPr>
          <a:xfrm>
            <a:off x="5870823" y="3414712"/>
            <a:ext cx="5559176"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Standard search looks for literal word matches. If you search for "growth", it will miss files that say "rapid expansion."</a:t>
            </a:r>
            <a:endParaRPr/>
          </a:p>
        </p:txBody>
      </p:sp>
      <p:sp>
        <p:nvSpPr>
          <p:cNvPr id="27" name="Google Shape;165;p19"/>
          <p:cNvSpPr txBox="1"/>
          <p:nvPr/>
        </p:nvSpPr>
        <p:spPr>
          <a:xfrm>
            <a:off x="5870823" y="3963292"/>
            <a:ext cx="5559176"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Our code uses an embedding model to convert text chunks into a coordinate list of 384 numbers. This maps the paragraph's deep conceptual meaning, helping the AI find relevant facts even if different words are used.</a:t>
            </a:r>
            <a:endParaRPr/>
          </a:p>
        </p:txBody>
      </p:sp>
      <p:sp>
        <p:nvSpPr>
          <p:cNvPr id="28" name="Google Shape;166;p19"/>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Searching by Meaning (Pinecone)</a:t>
            </a:r>
            <a:endParaRPr/>
          </a:p>
        </p:txBody>
      </p:sp>
      <p:sp>
        <p:nvSpPr>
          <p:cNvPr id="29" name="Google Shape;167;p19"/>
          <p:cNvSpPr/>
          <p:nvPr/>
        </p:nvSpPr>
        <p:spPr>
          <a:xfrm>
            <a:off x="762000" y="623207"/>
            <a:ext cx="57150" cy="410703"/>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30292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172;p20" descr="image.png"/>
          <p:cNvPicPr preferRelativeResize="0"/>
          <p:nvPr/>
        </p:nvPicPr>
        <p:blipFill rotWithShape="1">
          <a:blip r:embed="rId3">
            <a:alphaModFix/>
          </a:blip>
          <a:srcRect/>
          <a:stretch/>
        </p:blipFill>
        <p:spPr>
          <a:xfrm>
            <a:off x="0" y="839755"/>
            <a:ext cx="12192000" cy="4991878"/>
          </a:xfrm>
          <a:prstGeom prst="rect">
            <a:avLst/>
          </a:prstGeom>
          <a:noFill/>
          <a:ln>
            <a:noFill/>
          </a:ln>
        </p:spPr>
      </p:pic>
      <p:pic>
        <p:nvPicPr>
          <p:cNvPr id="7" name="Google Shape;173;p20" descr="image.png"/>
          <p:cNvPicPr preferRelativeResize="0"/>
          <p:nvPr/>
        </p:nvPicPr>
        <p:blipFill rotWithShape="1">
          <a:blip r:embed="rId4">
            <a:alphaModFix/>
          </a:blip>
          <a:srcRect/>
          <a:stretch/>
        </p:blipFill>
        <p:spPr>
          <a:xfrm>
            <a:off x="762000" y="2937101"/>
            <a:ext cx="4632573" cy="1747158"/>
          </a:xfrm>
          <a:prstGeom prst="rect">
            <a:avLst/>
          </a:prstGeom>
          <a:noFill/>
          <a:ln>
            <a:noFill/>
          </a:ln>
        </p:spPr>
      </p:pic>
      <p:sp>
        <p:nvSpPr>
          <p:cNvPr id="8" name="Google Shape;174;p20"/>
          <p:cNvSpPr txBox="1"/>
          <p:nvPr/>
        </p:nvSpPr>
        <p:spPr>
          <a:xfrm>
            <a:off x="1143000" y="3119437"/>
            <a:ext cx="3870573"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FFFFFF"/>
                </a:solidFill>
                <a:latin typeface="Poppins"/>
                <a:ea typeface="Poppins"/>
                <a:cs typeface="Poppins"/>
                <a:sym typeface="Poppins"/>
              </a:rPr>
              <a:t>&gt;92%</a:t>
            </a:r>
            <a:endParaRPr/>
          </a:p>
        </p:txBody>
      </p:sp>
      <p:sp>
        <p:nvSpPr>
          <p:cNvPr id="9" name="Google Shape;175;p20"/>
          <p:cNvSpPr txBox="1"/>
          <p:nvPr/>
        </p:nvSpPr>
        <p:spPr>
          <a:xfrm>
            <a:off x="1143000" y="4310062"/>
            <a:ext cx="3870573"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E0E7FF"/>
                </a:solidFill>
                <a:latin typeface="Lato"/>
                <a:ea typeface="Lato"/>
                <a:cs typeface="Lato"/>
                <a:sym typeface="Lato"/>
              </a:rPr>
              <a:t>Meaning Match</a:t>
            </a:r>
            <a:endParaRPr/>
          </a:p>
        </p:txBody>
      </p:sp>
      <p:sp>
        <p:nvSpPr>
          <p:cNvPr id="10" name="Google Shape;176;p20"/>
          <p:cNvSpPr txBox="1"/>
          <p:nvPr/>
        </p:nvSpPr>
        <p:spPr>
          <a:xfrm>
            <a:off x="5870823" y="2895600"/>
            <a:ext cx="583713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4F46E5"/>
                </a:solidFill>
                <a:latin typeface="Poppins SemiBold"/>
                <a:ea typeface="Poppins SemiBold"/>
                <a:cs typeface="Poppins SemiBold"/>
                <a:sym typeface="Poppins SemiBold"/>
              </a:rPr>
              <a:t>Answering in a Flash</a:t>
            </a:r>
            <a:endParaRPr/>
          </a:p>
        </p:txBody>
      </p:sp>
      <p:sp>
        <p:nvSpPr>
          <p:cNvPr id="11" name="Google Shape;177;p20"/>
          <p:cNvSpPr txBox="1"/>
          <p:nvPr/>
        </p:nvSpPr>
        <p:spPr>
          <a:xfrm>
            <a:off x="5870823" y="3409950"/>
            <a:ext cx="5559176" cy="5581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Before launching a long, expensive query, the script checks a cheat sheet (semantic_cache.json) to see if we have answered something similar.</a:t>
            </a:r>
            <a:endParaRPr/>
          </a:p>
        </p:txBody>
      </p:sp>
      <p:sp>
        <p:nvSpPr>
          <p:cNvPr id="12" name="Google Shape;178;p20"/>
          <p:cNvSpPr txBox="1"/>
          <p:nvPr/>
        </p:nvSpPr>
        <p:spPr>
          <a:xfrm>
            <a:off x="5870823" y="3968055"/>
            <a:ext cx="5559176"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If a new question is over 92% similar to an old one, the system skips the AI network entirely and retrieves the stored answer instantly. It saves time, network lag, and API fees!</a:t>
            </a:r>
            <a:endParaRPr/>
          </a:p>
        </p:txBody>
      </p:sp>
      <p:sp>
        <p:nvSpPr>
          <p:cNvPr id="13" name="Google Shape;179;p20"/>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The Cheat Sheet (Semantic Cache)</a:t>
            </a:r>
            <a:endParaRPr/>
          </a:p>
        </p:txBody>
      </p:sp>
      <p:sp>
        <p:nvSpPr>
          <p:cNvPr id="14" name="Google Shape;180;p20"/>
          <p:cNvSpPr/>
          <p:nvPr/>
        </p:nvSpPr>
        <p:spPr>
          <a:xfrm>
            <a:off x="762000" y="637981"/>
            <a:ext cx="57150" cy="39519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4539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oogle Shape;185;p21" descr="image.png"/>
          <p:cNvPicPr preferRelativeResize="0"/>
          <p:nvPr/>
        </p:nvPicPr>
        <p:blipFill rotWithShape="1">
          <a:blip r:embed="rId3">
            <a:alphaModFix/>
          </a:blip>
          <a:srcRect/>
          <a:stretch/>
        </p:blipFill>
        <p:spPr>
          <a:xfrm>
            <a:off x="0" y="522514"/>
            <a:ext cx="12192000" cy="5215813"/>
          </a:xfrm>
          <a:prstGeom prst="rect">
            <a:avLst/>
          </a:prstGeom>
          <a:noFill/>
          <a:ln>
            <a:noFill/>
          </a:ln>
        </p:spPr>
      </p:pic>
      <p:pic>
        <p:nvPicPr>
          <p:cNvPr id="16" name="Google Shape;186;p21" descr="image.png"/>
          <p:cNvPicPr preferRelativeResize="0"/>
          <p:nvPr/>
        </p:nvPicPr>
        <p:blipFill rotWithShape="1">
          <a:blip r:embed="rId4">
            <a:alphaModFix/>
          </a:blip>
          <a:srcRect/>
          <a:stretch/>
        </p:blipFill>
        <p:spPr>
          <a:xfrm>
            <a:off x="762000" y="2781651"/>
            <a:ext cx="5143500" cy="1905108"/>
          </a:xfrm>
          <a:prstGeom prst="rect">
            <a:avLst/>
          </a:prstGeom>
          <a:noFill/>
          <a:ln>
            <a:noFill/>
          </a:ln>
        </p:spPr>
      </p:pic>
      <p:pic>
        <p:nvPicPr>
          <p:cNvPr id="17" name="Google Shape;187;p21" descr="image.png"/>
          <p:cNvPicPr preferRelativeResize="0"/>
          <p:nvPr/>
        </p:nvPicPr>
        <p:blipFill rotWithShape="1">
          <a:blip r:embed="rId5">
            <a:alphaModFix/>
          </a:blip>
          <a:srcRect/>
          <a:stretch/>
        </p:blipFill>
        <p:spPr>
          <a:xfrm>
            <a:off x="6286500" y="2781651"/>
            <a:ext cx="5143500" cy="1905108"/>
          </a:xfrm>
          <a:prstGeom prst="rect">
            <a:avLst/>
          </a:prstGeom>
          <a:noFill/>
          <a:ln>
            <a:noFill/>
          </a:ln>
        </p:spPr>
      </p:pic>
      <p:sp>
        <p:nvSpPr>
          <p:cNvPr id="18" name="Google Shape;188;p21"/>
          <p:cNvSpPr txBox="1"/>
          <p:nvPr/>
        </p:nvSpPr>
        <p:spPr>
          <a:xfrm>
            <a:off x="1104900" y="3070770"/>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1. Asking the Map (Graph Search)</a:t>
            </a:r>
            <a:endParaRPr/>
          </a:p>
        </p:txBody>
      </p:sp>
      <p:sp>
        <p:nvSpPr>
          <p:cNvPr id="19" name="Google Shape;189;p21"/>
          <p:cNvSpPr txBox="1"/>
          <p:nvPr/>
        </p:nvSpPr>
        <p:spPr>
          <a:xfrm>
            <a:off x="1104900" y="3518445"/>
            <a:ext cx="44577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Fetches absolute, rigid connections. Ideal for pinpointing facts, organizational titles, and clear business links.</a:t>
            </a:r>
            <a:endParaRPr/>
          </a:p>
        </p:txBody>
      </p:sp>
      <p:sp>
        <p:nvSpPr>
          <p:cNvPr id="20" name="Google Shape;190;p21"/>
          <p:cNvSpPr txBox="1"/>
          <p:nvPr/>
        </p:nvSpPr>
        <p:spPr>
          <a:xfrm>
            <a:off x="1104900" y="4067026"/>
            <a:ext cx="44577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Lato"/>
                <a:ea typeface="Lato"/>
                <a:cs typeface="Lato"/>
                <a:sym typeface="Lato"/>
              </a:rPr>
              <a:t>Example:</a:t>
            </a:r>
            <a:r>
              <a:rPr lang="en-US" sz="1350" b="0" i="0" u="none" strike="noStrike" cap="none">
                <a:solidFill>
                  <a:srgbClr val="334155"/>
                </a:solidFill>
                <a:latin typeface="Lato"/>
                <a:ea typeface="Lato"/>
                <a:cs typeface="Lato"/>
                <a:sym typeface="Lato"/>
              </a:rPr>
              <a:t> "Who serves as CEO of Acme Corp?" → Sarah Chen.</a:t>
            </a:r>
            <a:endParaRPr/>
          </a:p>
        </p:txBody>
      </p:sp>
      <p:sp>
        <p:nvSpPr>
          <p:cNvPr id="21" name="Google Shape;191;p21"/>
          <p:cNvSpPr txBox="1"/>
          <p:nvPr/>
        </p:nvSpPr>
        <p:spPr>
          <a:xfrm>
            <a:off x="6629400" y="2933700"/>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2. Asking the Cabinet (Vector Search)</a:t>
            </a:r>
            <a:endParaRPr/>
          </a:p>
        </p:txBody>
      </p:sp>
      <p:sp>
        <p:nvSpPr>
          <p:cNvPr id="22" name="Google Shape;192;p21"/>
          <p:cNvSpPr txBox="1"/>
          <p:nvPr/>
        </p:nvSpPr>
        <p:spPr>
          <a:xfrm>
            <a:off x="6629400" y="3381375"/>
            <a:ext cx="44577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Queries Pinecone to find general background stories, paragraphs, and statistics that match the topic's overall theme.</a:t>
            </a:r>
            <a:endParaRPr/>
          </a:p>
        </p:txBody>
      </p:sp>
      <p:sp>
        <p:nvSpPr>
          <p:cNvPr id="23" name="Google Shape;193;p21"/>
          <p:cNvSpPr txBox="1"/>
          <p:nvPr/>
        </p:nvSpPr>
        <p:spPr>
          <a:xfrm>
            <a:off x="6629400" y="4204245"/>
            <a:ext cx="44577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334155"/>
                </a:solidFill>
                <a:latin typeface="Lato"/>
                <a:ea typeface="Lato"/>
                <a:cs typeface="Lato"/>
                <a:sym typeface="Lato"/>
              </a:rPr>
              <a:t>Example:</a:t>
            </a:r>
            <a:r>
              <a:rPr lang="en-US" sz="1350" b="0" i="0" u="none" strike="noStrike" cap="none" dirty="0">
                <a:solidFill>
                  <a:srgbClr val="334155"/>
                </a:solidFill>
                <a:latin typeface="Lato"/>
                <a:ea typeface="Lato"/>
                <a:cs typeface="Lato"/>
                <a:sym typeface="Lato"/>
              </a:rPr>
              <a:t> "What did the board decide?" → Approved a $500M buyback program.</a:t>
            </a:r>
            <a:endParaRPr dirty="0"/>
          </a:p>
        </p:txBody>
      </p:sp>
      <p:sp>
        <p:nvSpPr>
          <p:cNvPr id="24" name="Google Shape;194;p21"/>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The Dynamic Duo: Hybrid Search</a:t>
            </a:r>
            <a:endParaRPr/>
          </a:p>
        </p:txBody>
      </p:sp>
      <p:sp>
        <p:nvSpPr>
          <p:cNvPr id="25" name="Google Shape;195;p21"/>
          <p:cNvSpPr/>
          <p:nvPr/>
        </p:nvSpPr>
        <p:spPr>
          <a:xfrm>
            <a:off x="762000" y="612867"/>
            <a:ext cx="57150" cy="412918"/>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31038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00;p22" descr="image.png"/>
          <p:cNvPicPr preferRelativeResize="0"/>
          <p:nvPr/>
        </p:nvPicPr>
        <p:blipFill rotWithShape="1">
          <a:blip r:embed="rId3">
            <a:alphaModFix/>
          </a:blip>
          <a:srcRect/>
          <a:stretch/>
        </p:blipFill>
        <p:spPr>
          <a:xfrm>
            <a:off x="0" y="1343608"/>
            <a:ext cx="12192000" cy="4506686"/>
          </a:xfrm>
          <a:prstGeom prst="rect">
            <a:avLst/>
          </a:prstGeom>
          <a:noFill/>
          <a:ln>
            <a:noFill/>
          </a:ln>
        </p:spPr>
      </p:pic>
      <p:pic>
        <p:nvPicPr>
          <p:cNvPr id="3" name="Google Shape;201;p22" descr="image.png"/>
          <p:cNvPicPr preferRelativeResize="0"/>
          <p:nvPr/>
        </p:nvPicPr>
        <p:blipFill rotWithShape="1">
          <a:blip r:embed="rId4">
            <a:alphaModFix/>
          </a:blip>
          <a:srcRect/>
          <a:stretch/>
        </p:blipFill>
        <p:spPr>
          <a:xfrm>
            <a:off x="762000" y="2962295"/>
            <a:ext cx="3365450" cy="1903996"/>
          </a:xfrm>
          <a:prstGeom prst="rect">
            <a:avLst/>
          </a:prstGeom>
          <a:noFill/>
          <a:ln>
            <a:noFill/>
          </a:ln>
        </p:spPr>
      </p:pic>
      <p:pic>
        <p:nvPicPr>
          <p:cNvPr id="4" name="Google Shape;202;p22" descr="image.png"/>
          <p:cNvPicPr preferRelativeResize="0"/>
          <p:nvPr/>
        </p:nvPicPr>
        <p:blipFill rotWithShape="1">
          <a:blip r:embed="rId5">
            <a:alphaModFix/>
          </a:blip>
          <a:srcRect/>
          <a:stretch/>
        </p:blipFill>
        <p:spPr>
          <a:xfrm>
            <a:off x="4413200" y="2962295"/>
            <a:ext cx="3365450" cy="1903996"/>
          </a:xfrm>
          <a:prstGeom prst="rect">
            <a:avLst/>
          </a:prstGeom>
          <a:noFill/>
          <a:ln>
            <a:noFill/>
          </a:ln>
        </p:spPr>
      </p:pic>
      <p:pic>
        <p:nvPicPr>
          <p:cNvPr id="5" name="Google Shape;203;p22" descr="image.png"/>
          <p:cNvPicPr preferRelativeResize="0"/>
          <p:nvPr/>
        </p:nvPicPr>
        <p:blipFill rotWithShape="1">
          <a:blip r:embed="rId6">
            <a:alphaModFix/>
          </a:blip>
          <a:srcRect/>
          <a:stretch/>
        </p:blipFill>
        <p:spPr>
          <a:xfrm>
            <a:off x="8064400" y="2962295"/>
            <a:ext cx="3365450" cy="1903996"/>
          </a:xfrm>
          <a:prstGeom prst="rect">
            <a:avLst/>
          </a:prstGeom>
          <a:noFill/>
          <a:ln>
            <a:noFill/>
          </a:ln>
        </p:spPr>
      </p:pic>
      <p:sp>
        <p:nvSpPr>
          <p:cNvPr id="6" name="Google Shape;204;p22"/>
          <p:cNvSpPr txBox="1"/>
          <p:nvPr/>
        </p:nvSpPr>
        <p:spPr>
          <a:xfrm>
            <a:off x="937896" y="3404294"/>
            <a:ext cx="3013657"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E293B"/>
                </a:solidFill>
                <a:latin typeface="Poppins SemiBold"/>
                <a:ea typeface="Poppins SemiBold"/>
                <a:cs typeface="Poppins SemiBold"/>
                <a:sym typeface="Poppins SemiBold"/>
              </a:rPr>
              <a:t>1. The Editor</a:t>
            </a:r>
            <a:endParaRPr/>
          </a:p>
        </p:txBody>
      </p:sp>
      <p:sp>
        <p:nvSpPr>
          <p:cNvPr id="7" name="Google Shape;205;p22"/>
          <p:cNvSpPr txBox="1"/>
          <p:nvPr/>
        </p:nvSpPr>
        <p:spPr>
          <a:xfrm>
            <a:off x="1009650" y="3851969"/>
            <a:ext cx="287015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The strategist. Reads the requested topic and designs an editorial blueprint: the angle, tone, and 3 research questions.</a:t>
            </a:r>
            <a:endParaRPr/>
          </a:p>
        </p:txBody>
      </p:sp>
      <p:sp>
        <p:nvSpPr>
          <p:cNvPr id="8" name="Google Shape;206;p22"/>
          <p:cNvSpPr txBox="1"/>
          <p:nvPr/>
        </p:nvSpPr>
        <p:spPr>
          <a:xfrm>
            <a:off x="4589096" y="3404294"/>
            <a:ext cx="3013657"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E293B"/>
                </a:solidFill>
                <a:latin typeface="Poppins SemiBold"/>
                <a:ea typeface="Poppins SemiBold"/>
                <a:cs typeface="Poppins SemiBold"/>
                <a:sym typeface="Poppins SemiBold"/>
              </a:rPr>
              <a:t>2. The Researcher</a:t>
            </a:r>
            <a:endParaRPr/>
          </a:p>
        </p:txBody>
      </p:sp>
      <p:sp>
        <p:nvSpPr>
          <p:cNvPr id="9" name="Google Shape;207;p22"/>
          <p:cNvSpPr txBox="1"/>
          <p:nvPr/>
        </p:nvSpPr>
        <p:spPr>
          <a:xfrm>
            <a:off x="4660850" y="3851969"/>
            <a:ext cx="287015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The investigator. Searches both filing systems to collect solid, proven evidence answering the Editor's questions.</a:t>
            </a:r>
            <a:endParaRPr/>
          </a:p>
        </p:txBody>
      </p:sp>
      <p:sp>
        <p:nvSpPr>
          <p:cNvPr id="10" name="Google Shape;208;p22"/>
          <p:cNvSpPr txBox="1"/>
          <p:nvPr/>
        </p:nvSpPr>
        <p:spPr>
          <a:xfrm>
            <a:off x="8240297" y="3404294"/>
            <a:ext cx="3013657"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1E293B"/>
                </a:solidFill>
                <a:latin typeface="Poppins SemiBold"/>
                <a:ea typeface="Poppins SemiBold"/>
                <a:cs typeface="Poppins SemiBold"/>
                <a:sym typeface="Poppins SemiBold"/>
              </a:rPr>
              <a:t>3. The Writer</a:t>
            </a:r>
            <a:endParaRPr/>
          </a:p>
        </p:txBody>
      </p:sp>
      <p:sp>
        <p:nvSpPr>
          <p:cNvPr id="11" name="Google Shape;209;p22"/>
          <p:cNvSpPr txBox="1"/>
          <p:nvPr/>
        </p:nvSpPr>
        <p:spPr>
          <a:xfrm>
            <a:off x="8312050" y="3851969"/>
            <a:ext cx="2870150"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The craftsman. Takes the approved strategy and the researched facts to assemble a clean, finalized article.</a:t>
            </a:r>
            <a:endParaRPr/>
          </a:p>
        </p:txBody>
      </p:sp>
      <p:pic>
        <p:nvPicPr>
          <p:cNvPr id="12" name="Google Shape;210;p22" descr="image.png"/>
          <p:cNvPicPr preferRelativeResize="0"/>
          <p:nvPr/>
        </p:nvPicPr>
        <p:blipFill rotWithShape="1">
          <a:blip r:embed="rId7">
            <a:alphaModFix/>
          </a:blip>
          <a:srcRect/>
          <a:stretch/>
        </p:blipFill>
        <p:spPr>
          <a:xfrm>
            <a:off x="2292250" y="2854021"/>
            <a:ext cx="304800" cy="262890"/>
          </a:xfrm>
          <a:prstGeom prst="rect">
            <a:avLst/>
          </a:prstGeom>
          <a:noFill/>
          <a:ln>
            <a:noFill/>
          </a:ln>
        </p:spPr>
      </p:pic>
      <p:pic>
        <p:nvPicPr>
          <p:cNvPr id="13" name="Google Shape;211;p22" descr="image.png"/>
          <p:cNvPicPr preferRelativeResize="0"/>
          <p:nvPr/>
        </p:nvPicPr>
        <p:blipFill rotWithShape="1">
          <a:blip r:embed="rId8">
            <a:alphaModFix/>
          </a:blip>
          <a:srcRect/>
          <a:stretch/>
        </p:blipFill>
        <p:spPr>
          <a:xfrm>
            <a:off x="5895826" y="2854021"/>
            <a:ext cx="400050" cy="262890"/>
          </a:xfrm>
          <a:prstGeom prst="rect">
            <a:avLst/>
          </a:prstGeom>
          <a:noFill/>
          <a:ln>
            <a:noFill/>
          </a:ln>
        </p:spPr>
      </p:pic>
      <p:pic>
        <p:nvPicPr>
          <p:cNvPr id="14" name="Google Shape;212;p22" descr="image.png"/>
          <p:cNvPicPr preferRelativeResize="0"/>
          <p:nvPr/>
        </p:nvPicPr>
        <p:blipFill rotWithShape="1">
          <a:blip r:embed="rId9">
            <a:alphaModFix/>
          </a:blip>
          <a:srcRect/>
          <a:stretch/>
        </p:blipFill>
        <p:spPr>
          <a:xfrm>
            <a:off x="9523214" y="2854021"/>
            <a:ext cx="447675" cy="262890"/>
          </a:xfrm>
          <a:prstGeom prst="rect">
            <a:avLst/>
          </a:prstGeom>
          <a:noFill/>
          <a:ln>
            <a:noFill/>
          </a:ln>
        </p:spPr>
      </p:pic>
      <p:sp>
        <p:nvSpPr>
          <p:cNvPr id="15" name="Google Shape;213;p22"/>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The Multi-Agent Newsroom</a:t>
            </a:r>
            <a:endParaRPr/>
          </a:p>
        </p:txBody>
      </p:sp>
      <p:sp>
        <p:nvSpPr>
          <p:cNvPr id="16" name="Google Shape;214;p22"/>
          <p:cNvSpPr/>
          <p:nvPr/>
        </p:nvSpPr>
        <p:spPr>
          <a:xfrm>
            <a:off x="762000" y="677869"/>
            <a:ext cx="57150" cy="356779"/>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66494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19;p23" descr="image.png"/>
          <p:cNvPicPr preferRelativeResize="0"/>
          <p:nvPr/>
        </p:nvPicPr>
        <p:blipFill rotWithShape="1">
          <a:blip r:embed="rId3">
            <a:alphaModFix/>
          </a:blip>
          <a:srcRect/>
          <a:stretch/>
        </p:blipFill>
        <p:spPr>
          <a:xfrm>
            <a:off x="0" y="783770"/>
            <a:ext cx="12192000" cy="4861249"/>
          </a:xfrm>
          <a:prstGeom prst="rect">
            <a:avLst/>
          </a:prstGeom>
          <a:noFill/>
          <a:ln>
            <a:noFill/>
          </a:ln>
        </p:spPr>
      </p:pic>
      <p:sp>
        <p:nvSpPr>
          <p:cNvPr id="3" name="Google Shape;220;p23"/>
          <p:cNvSpPr txBox="1"/>
          <p:nvPr/>
        </p:nvSpPr>
        <p:spPr>
          <a:xfrm>
            <a:off x="1524000" y="285273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Sets the Direction:</a:t>
            </a:r>
            <a:r>
              <a:rPr lang="en-US" sz="1500" b="0" i="0" u="none" strike="noStrike" cap="none">
                <a:solidFill>
                  <a:srgbClr val="334155"/>
                </a:solidFill>
                <a:latin typeface="Lato"/>
                <a:ea typeface="Lato"/>
                <a:cs typeface="Lato"/>
                <a:sym typeface="Lato"/>
              </a:rPr>
              <a:t> Ensures we have an editorial angle and targeted style instead of writing generic text.</a:t>
            </a:r>
            <a:endParaRPr/>
          </a:p>
        </p:txBody>
      </p:sp>
      <p:sp>
        <p:nvSpPr>
          <p:cNvPr id="4" name="Google Shape;221;p23"/>
          <p:cNvSpPr txBox="1"/>
          <p:nvPr/>
        </p:nvSpPr>
        <p:spPr>
          <a:xfrm>
            <a:off x="1524000" y="334803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Queries the Brain first:</a:t>
            </a:r>
            <a:r>
              <a:rPr lang="en-US" sz="1500" b="0" i="0" u="none" strike="noStrike" cap="none">
                <a:solidFill>
                  <a:srgbClr val="334155"/>
                </a:solidFill>
                <a:latin typeface="Lato"/>
                <a:ea typeface="Lato"/>
                <a:cs typeface="Lato"/>
                <a:sym typeface="Lato"/>
              </a:rPr>
              <a:t> Uses Hybrid Search on the main topic to discover what core concepts exist in the database.</a:t>
            </a:r>
            <a:endParaRPr/>
          </a:p>
        </p:txBody>
      </p:sp>
      <p:sp>
        <p:nvSpPr>
          <p:cNvPr id="5" name="Google Shape;222;p23"/>
          <p:cNvSpPr txBox="1"/>
          <p:nvPr/>
        </p:nvSpPr>
        <p:spPr>
          <a:xfrm>
            <a:off x="1524000" y="384333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Formulates Questions:</a:t>
            </a:r>
            <a:r>
              <a:rPr lang="en-US" sz="1500" b="0" i="0" u="none" strike="noStrike" cap="none">
                <a:solidFill>
                  <a:srgbClr val="334155"/>
                </a:solidFill>
                <a:latin typeface="Lato"/>
                <a:ea typeface="Lato"/>
                <a:cs typeface="Lato"/>
                <a:sym typeface="Lato"/>
              </a:rPr>
              <a:t> Hands off exactly 3 direct questions to the Researcher to focus their efforts.</a:t>
            </a:r>
            <a:endParaRPr/>
          </a:p>
        </p:txBody>
      </p:sp>
      <p:sp>
        <p:nvSpPr>
          <p:cNvPr id="6" name="Google Shape;223;p23"/>
          <p:cNvSpPr txBox="1"/>
          <p:nvPr/>
        </p:nvSpPr>
        <p:spPr>
          <a:xfrm>
            <a:off x="1524000" y="433863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Saves Progress:</a:t>
            </a:r>
            <a:r>
              <a:rPr lang="en-US" sz="1500" b="0" i="0" u="none" strike="noStrike" cap="none">
                <a:solidFill>
                  <a:srgbClr val="334155"/>
                </a:solidFill>
                <a:latin typeface="Lato"/>
                <a:ea typeface="Lato"/>
                <a:cs typeface="Lato"/>
                <a:sym typeface="Lato"/>
              </a:rPr>
              <a:t> Writes the resulting plan to disk so we don't waste time running it again.</a:t>
            </a:r>
            <a:endParaRPr/>
          </a:p>
        </p:txBody>
      </p:sp>
      <p:pic>
        <p:nvPicPr>
          <p:cNvPr id="7" name="Google Shape;224;p23" descr="image.png"/>
          <p:cNvPicPr preferRelativeResize="0"/>
          <p:nvPr/>
        </p:nvPicPr>
        <p:blipFill rotWithShape="1">
          <a:blip r:embed="rId4">
            <a:alphaModFix/>
          </a:blip>
          <a:srcRect/>
          <a:stretch/>
        </p:blipFill>
        <p:spPr>
          <a:xfrm>
            <a:off x="1143000" y="2900089"/>
            <a:ext cx="257175" cy="175545"/>
          </a:xfrm>
          <a:prstGeom prst="rect">
            <a:avLst/>
          </a:prstGeom>
          <a:noFill/>
          <a:ln>
            <a:noFill/>
          </a:ln>
        </p:spPr>
      </p:pic>
      <p:pic>
        <p:nvPicPr>
          <p:cNvPr id="8" name="Google Shape;225;p23" descr="image.png"/>
          <p:cNvPicPr preferRelativeResize="0"/>
          <p:nvPr/>
        </p:nvPicPr>
        <p:blipFill rotWithShape="1">
          <a:blip r:embed="rId5">
            <a:alphaModFix/>
          </a:blip>
          <a:srcRect/>
          <a:stretch/>
        </p:blipFill>
        <p:spPr>
          <a:xfrm>
            <a:off x="1143000" y="3395389"/>
            <a:ext cx="228600" cy="175545"/>
          </a:xfrm>
          <a:prstGeom prst="rect">
            <a:avLst/>
          </a:prstGeom>
          <a:noFill/>
          <a:ln>
            <a:noFill/>
          </a:ln>
        </p:spPr>
      </p:pic>
      <p:pic>
        <p:nvPicPr>
          <p:cNvPr id="9" name="Google Shape;226;p23" descr="image.png"/>
          <p:cNvPicPr preferRelativeResize="0"/>
          <p:nvPr/>
        </p:nvPicPr>
        <p:blipFill rotWithShape="1">
          <a:blip r:embed="rId6">
            <a:alphaModFix/>
          </a:blip>
          <a:srcRect/>
          <a:stretch/>
        </p:blipFill>
        <p:spPr>
          <a:xfrm>
            <a:off x="1143000" y="3890689"/>
            <a:ext cx="228600" cy="175545"/>
          </a:xfrm>
          <a:prstGeom prst="rect">
            <a:avLst/>
          </a:prstGeom>
          <a:noFill/>
          <a:ln>
            <a:noFill/>
          </a:ln>
        </p:spPr>
      </p:pic>
      <p:pic>
        <p:nvPicPr>
          <p:cNvPr id="10" name="Google Shape;227;p23" descr="image.png"/>
          <p:cNvPicPr preferRelativeResize="0"/>
          <p:nvPr/>
        </p:nvPicPr>
        <p:blipFill rotWithShape="1">
          <a:blip r:embed="rId7">
            <a:alphaModFix/>
          </a:blip>
          <a:srcRect/>
          <a:stretch/>
        </p:blipFill>
        <p:spPr>
          <a:xfrm>
            <a:off x="1143000" y="4385989"/>
            <a:ext cx="200025" cy="175545"/>
          </a:xfrm>
          <a:prstGeom prst="rect">
            <a:avLst/>
          </a:prstGeom>
          <a:noFill/>
          <a:ln>
            <a:noFill/>
          </a:ln>
        </p:spPr>
      </p:pic>
      <p:sp>
        <p:nvSpPr>
          <p:cNvPr id="11" name="Google Shape;228;p23"/>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Agent 1: The Editor's Job</a:t>
            </a:r>
            <a:endParaRPr/>
          </a:p>
        </p:txBody>
      </p:sp>
      <p:sp>
        <p:nvSpPr>
          <p:cNvPr id="12" name="Google Shape;229;p23"/>
          <p:cNvSpPr/>
          <p:nvPr/>
        </p:nvSpPr>
        <p:spPr>
          <a:xfrm>
            <a:off x="762000" y="633548"/>
            <a:ext cx="57150" cy="384849"/>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5497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34;p24" descr="image.png"/>
          <p:cNvPicPr preferRelativeResize="0"/>
          <p:nvPr/>
        </p:nvPicPr>
        <p:blipFill rotWithShape="1">
          <a:blip r:embed="rId3">
            <a:alphaModFix/>
          </a:blip>
          <a:srcRect/>
          <a:stretch/>
        </p:blipFill>
        <p:spPr>
          <a:xfrm>
            <a:off x="0" y="681135"/>
            <a:ext cx="12192000" cy="4935894"/>
          </a:xfrm>
          <a:prstGeom prst="rect">
            <a:avLst/>
          </a:prstGeom>
          <a:noFill/>
          <a:ln>
            <a:noFill/>
          </a:ln>
        </p:spPr>
      </p:pic>
      <p:sp>
        <p:nvSpPr>
          <p:cNvPr id="3" name="Google Shape;235;p24"/>
          <p:cNvSpPr txBox="1"/>
          <p:nvPr/>
        </p:nvSpPr>
        <p:spPr>
          <a:xfrm>
            <a:off x="1524000" y="256698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Fact Retrieval:</a:t>
            </a:r>
            <a:r>
              <a:rPr lang="en-US" sz="1500" b="0" i="0" u="none" strike="noStrike" cap="none">
                <a:solidFill>
                  <a:srgbClr val="334155"/>
                </a:solidFill>
                <a:latin typeface="Lato"/>
                <a:ea typeface="Lato"/>
                <a:cs typeface="Lato"/>
                <a:sym typeface="Lato"/>
              </a:rPr>
              <a:t> Runs customized database queries targeting the specific questions assigned by the Editor.</a:t>
            </a:r>
            <a:endParaRPr/>
          </a:p>
        </p:txBody>
      </p:sp>
      <p:sp>
        <p:nvSpPr>
          <p:cNvPr id="4" name="Google Shape;236;p24"/>
          <p:cNvSpPr txBox="1"/>
          <p:nvPr/>
        </p:nvSpPr>
        <p:spPr>
          <a:xfrm>
            <a:off x="1524000" y="3062287"/>
            <a:ext cx="9572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Blocks Hallucinations:</a:t>
            </a:r>
            <a:r>
              <a:rPr lang="en-US" sz="1500" b="0" i="0" u="none" strike="noStrike" cap="none">
                <a:solidFill>
                  <a:srgbClr val="334155"/>
                </a:solidFill>
                <a:latin typeface="Lato"/>
                <a:ea typeface="Lato"/>
                <a:cs typeface="Lato"/>
                <a:sym typeface="Lato"/>
              </a:rPr>
              <a:t> Programmed with strict system boundaries to only retrieve documents from our verified filing system.</a:t>
            </a:r>
            <a:endParaRPr/>
          </a:p>
        </p:txBody>
      </p:sp>
      <p:sp>
        <p:nvSpPr>
          <p:cNvPr id="5" name="Google Shape;237;p24"/>
          <p:cNvSpPr txBox="1"/>
          <p:nvPr/>
        </p:nvSpPr>
        <p:spPr>
          <a:xfrm>
            <a:off x="1524000" y="3843337"/>
            <a:ext cx="9572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Flags Gaps:</a:t>
            </a:r>
            <a:r>
              <a:rPr lang="en-US" sz="1500" b="0" i="0" u="none" strike="noStrike" cap="none">
                <a:solidFill>
                  <a:srgbClr val="334155"/>
                </a:solidFill>
                <a:latin typeface="Lato"/>
                <a:ea typeface="Lato"/>
                <a:cs typeface="Lato"/>
                <a:sym typeface="Lato"/>
              </a:rPr>
              <a:t> If the company knowledge base doesn't have an answer, the Researcher explicitly flags it rather than guessing.</a:t>
            </a:r>
            <a:endParaRPr/>
          </a:p>
        </p:txBody>
      </p:sp>
      <p:sp>
        <p:nvSpPr>
          <p:cNvPr id="6" name="Google Shape;238;p24"/>
          <p:cNvSpPr txBox="1"/>
          <p:nvPr/>
        </p:nvSpPr>
        <p:spPr>
          <a:xfrm>
            <a:off x="1524000" y="462438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Saves to Folder:</a:t>
            </a:r>
            <a:r>
              <a:rPr lang="en-US" sz="1500" b="0" i="0" u="none" strike="noStrike" cap="none">
                <a:solidFill>
                  <a:srgbClr val="334155"/>
                </a:solidFill>
                <a:latin typeface="Lato"/>
                <a:ea typeface="Lato"/>
                <a:cs typeface="Lato"/>
                <a:sym typeface="Lato"/>
              </a:rPr>
              <a:t> Packs up the finalized research variables into checkpoint storage.</a:t>
            </a:r>
            <a:endParaRPr/>
          </a:p>
        </p:txBody>
      </p:sp>
      <p:pic>
        <p:nvPicPr>
          <p:cNvPr id="7" name="Google Shape;239;p24" descr="image.png"/>
          <p:cNvPicPr preferRelativeResize="0"/>
          <p:nvPr/>
        </p:nvPicPr>
        <p:blipFill rotWithShape="1">
          <a:blip r:embed="rId4">
            <a:alphaModFix/>
          </a:blip>
          <a:srcRect/>
          <a:stretch/>
        </p:blipFill>
        <p:spPr>
          <a:xfrm>
            <a:off x="1143000" y="2610634"/>
            <a:ext cx="228600" cy="178240"/>
          </a:xfrm>
          <a:prstGeom prst="rect">
            <a:avLst/>
          </a:prstGeom>
          <a:noFill/>
          <a:ln>
            <a:noFill/>
          </a:ln>
        </p:spPr>
      </p:pic>
      <p:pic>
        <p:nvPicPr>
          <p:cNvPr id="8" name="Google Shape;240;p24" descr="image.png"/>
          <p:cNvPicPr preferRelativeResize="0"/>
          <p:nvPr/>
        </p:nvPicPr>
        <p:blipFill rotWithShape="1">
          <a:blip r:embed="rId5">
            <a:alphaModFix/>
          </a:blip>
          <a:srcRect/>
          <a:stretch/>
        </p:blipFill>
        <p:spPr>
          <a:xfrm>
            <a:off x="1143000" y="3105934"/>
            <a:ext cx="228600" cy="178240"/>
          </a:xfrm>
          <a:prstGeom prst="rect">
            <a:avLst/>
          </a:prstGeom>
          <a:noFill/>
          <a:ln>
            <a:noFill/>
          </a:ln>
        </p:spPr>
      </p:pic>
      <p:pic>
        <p:nvPicPr>
          <p:cNvPr id="9" name="Google Shape;241;p24" descr="image.png"/>
          <p:cNvPicPr preferRelativeResize="0"/>
          <p:nvPr/>
        </p:nvPicPr>
        <p:blipFill rotWithShape="1">
          <a:blip r:embed="rId6">
            <a:alphaModFix/>
          </a:blip>
          <a:srcRect/>
          <a:stretch/>
        </p:blipFill>
        <p:spPr>
          <a:xfrm>
            <a:off x="1143000" y="3886984"/>
            <a:ext cx="228600" cy="178240"/>
          </a:xfrm>
          <a:prstGeom prst="rect">
            <a:avLst/>
          </a:prstGeom>
          <a:noFill/>
          <a:ln>
            <a:noFill/>
          </a:ln>
        </p:spPr>
      </p:pic>
      <p:pic>
        <p:nvPicPr>
          <p:cNvPr id="10" name="Google Shape;242;p24" descr="image.png"/>
          <p:cNvPicPr preferRelativeResize="0"/>
          <p:nvPr/>
        </p:nvPicPr>
        <p:blipFill rotWithShape="1">
          <a:blip r:embed="rId7">
            <a:alphaModFix/>
          </a:blip>
          <a:srcRect/>
          <a:stretch/>
        </p:blipFill>
        <p:spPr>
          <a:xfrm>
            <a:off x="1143000" y="4668034"/>
            <a:ext cx="228600" cy="178240"/>
          </a:xfrm>
          <a:prstGeom prst="rect">
            <a:avLst/>
          </a:prstGeom>
          <a:noFill/>
          <a:ln>
            <a:noFill/>
          </a:ln>
        </p:spPr>
      </p:pic>
      <p:sp>
        <p:nvSpPr>
          <p:cNvPr id="11" name="Google Shape;243;p24"/>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Agent 2: The Researcher's Job</a:t>
            </a:r>
            <a:endParaRPr/>
          </a:p>
        </p:txBody>
      </p:sp>
      <p:sp>
        <p:nvSpPr>
          <p:cNvPr id="12" name="Google Shape;244;p24"/>
          <p:cNvSpPr/>
          <p:nvPr/>
        </p:nvSpPr>
        <p:spPr>
          <a:xfrm>
            <a:off x="762000" y="625423"/>
            <a:ext cx="57150" cy="390758"/>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48267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49;p25" descr="image.png"/>
          <p:cNvPicPr preferRelativeResize="0"/>
          <p:nvPr/>
        </p:nvPicPr>
        <p:blipFill rotWithShape="1">
          <a:blip r:embed="rId3">
            <a:alphaModFix/>
          </a:blip>
          <a:srcRect/>
          <a:stretch/>
        </p:blipFill>
        <p:spPr>
          <a:xfrm>
            <a:off x="0" y="961052"/>
            <a:ext cx="12192000" cy="5010539"/>
          </a:xfrm>
          <a:prstGeom prst="rect">
            <a:avLst/>
          </a:prstGeom>
          <a:noFill/>
          <a:ln>
            <a:noFill/>
          </a:ln>
        </p:spPr>
      </p:pic>
      <p:sp>
        <p:nvSpPr>
          <p:cNvPr id="3" name="Google Shape;250;p25"/>
          <p:cNvSpPr txBox="1"/>
          <p:nvPr/>
        </p:nvSpPr>
        <p:spPr>
          <a:xfrm>
            <a:off x="1524000" y="270033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Drafts the Article:</a:t>
            </a:r>
            <a:r>
              <a:rPr lang="en-US" sz="1500" b="0" i="0" u="none" strike="noStrike" cap="none">
                <a:solidFill>
                  <a:srgbClr val="334155"/>
                </a:solidFill>
                <a:latin typeface="Lato"/>
                <a:ea typeface="Lato"/>
                <a:cs typeface="Lato"/>
                <a:sym typeface="Lato"/>
              </a:rPr>
              <a:t> Smoothly integrates the dry facts collected by the Researcher into a cohesive, engaging narrative.</a:t>
            </a:r>
            <a:endParaRPr/>
          </a:p>
        </p:txBody>
      </p:sp>
      <p:sp>
        <p:nvSpPr>
          <p:cNvPr id="4" name="Google Shape;251;p25"/>
          <p:cNvSpPr txBox="1"/>
          <p:nvPr/>
        </p:nvSpPr>
        <p:spPr>
          <a:xfrm>
            <a:off x="1524000" y="3195637"/>
            <a:ext cx="95726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Strict Truth Bounds:</a:t>
            </a:r>
            <a:r>
              <a:rPr lang="en-US" sz="1500" b="0" i="0" u="none" strike="noStrike" cap="none">
                <a:solidFill>
                  <a:srgbClr val="334155"/>
                </a:solidFill>
                <a:latin typeface="Lato"/>
                <a:ea typeface="Lato"/>
                <a:cs typeface="Lato"/>
                <a:sym typeface="Lato"/>
              </a:rPr>
              <a:t> Heavily restricted from using general knowledge. If the Researcher didn't supply a fact, the Writer cannot include it.</a:t>
            </a:r>
            <a:endParaRPr/>
          </a:p>
        </p:txBody>
      </p:sp>
      <p:sp>
        <p:nvSpPr>
          <p:cNvPr id="5" name="Google Shape;252;p25"/>
          <p:cNvSpPr txBox="1"/>
          <p:nvPr/>
        </p:nvSpPr>
        <p:spPr>
          <a:xfrm>
            <a:off x="1524000" y="3976687"/>
            <a:ext cx="9572625" cy="30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Outputs the File:</a:t>
            </a:r>
            <a:r>
              <a:rPr lang="en-US" sz="1500" b="0" i="0" u="none" strike="noStrike" cap="none">
                <a:solidFill>
                  <a:srgbClr val="334155"/>
                </a:solidFill>
                <a:latin typeface="Lato"/>
                <a:ea typeface="Lato"/>
                <a:cs typeface="Lato"/>
                <a:sym typeface="Lato"/>
              </a:rPr>
              <a:t> Writes the beautiful finalized text straight to a clean disk file (e.g., article_76a4cd.txt).</a:t>
            </a:r>
            <a:endParaRPr/>
          </a:p>
        </p:txBody>
      </p:sp>
      <p:sp>
        <p:nvSpPr>
          <p:cNvPr id="6" name="Google Shape;253;p25"/>
          <p:cNvSpPr txBox="1"/>
          <p:nvPr/>
        </p:nvSpPr>
        <p:spPr>
          <a:xfrm>
            <a:off x="1524000" y="4491037"/>
            <a:ext cx="957262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F172A"/>
                </a:solidFill>
                <a:latin typeface="Lato"/>
                <a:ea typeface="Lato"/>
                <a:cs typeface="Lato"/>
                <a:sym typeface="Lato"/>
              </a:rPr>
              <a:t>Cleans Up:</a:t>
            </a:r>
            <a:r>
              <a:rPr lang="en-US" sz="1500" b="0" i="0" u="none" strike="noStrike" cap="none">
                <a:solidFill>
                  <a:srgbClr val="334155"/>
                </a:solidFill>
                <a:latin typeface="Lato"/>
                <a:ea typeface="Lato"/>
                <a:cs typeface="Lato"/>
                <a:sym typeface="Lato"/>
              </a:rPr>
              <a:t> Erases intermediate temporary memory steps since the task is completely finished.</a:t>
            </a:r>
            <a:endParaRPr/>
          </a:p>
        </p:txBody>
      </p:sp>
      <p:pic>
        <p:nvPicPr>
          <p:cNvPr id="7" name="Google Shape;254;p25" descr="image.png"/>
          <p:cNvPicPr preferRelativeResize="0"/>
          <p:nvPr/>
        </p:nvPicPr>
        <p:blipFill rotWithShape="1">
          <a:blip r:embed="rId4">
            <a:alphaModFix/>
          </a:blip>
          <a:srcRect/>
          <a:stretch/>
        </p:blipFill>
        <p:spPr>
          <a:xfrm>
            <a:off x="1143000" y="2754092"/>
            <a:ext cx="257175" cy="180936"/>
          </a:xfrm>
          <a:prstGeom prst="rect">
            <a:avLst/>
          </a:prstGeom>
          <a:noFill/>
          <a:ln>
            <a:noFill/>
          </a:ln>
        </p:spPr>
      </p:pic>
      <p:pic>
        <p:nvPicPr>
          <p:cNvPr id="8" name="Google Shape;255;p25" descr="image.png"/>
          <p:cNvPicPr preferRelativeResize="0"/>
          <p:nvPr/>
        </p:nvPicPr>
        <p:blipFill rotWithShape="1">
          <a:blip r:embed="rId5">
            <a:alphaModFix/>
          </a:blip>
          <a:srcRect/>
          <a:stretch/>
        </p:blipFill>
        <p:spPr>
          <a:xfrm>
            <a:off x="1143000" y="3249392"/>
            <a:ext cx="200025" cy="180936"/>
          </a:xfrm>
          <a:prstGeom prst="rect">
            <a:avLst/>
          </a:prstGeom>
          <a:noFill/>
          <a:ln>
            <a:noFill/>
          </a:ln>
        </p:spPr>
      </p:pic>
      <p:pic>
        <p:nvPicPr>
          <p:cNvPr id="9" name="Google Shape;256;p25" descr="image.png"/>
          <p:cNvPicPr preferRelativeResize="0"/>
          <p:nvPr/>
        </p:nvPicPr>
        <p:blipFill rotWithShape="1">
          <a:blip r:embed="rId6">
            <a:alphaModFix/>
          </a:blip>
          <a:srcRect/>
          <a:stretch/>
        </p:blipFill>
        <p:spPr>
          <a:xfrm>
            <a:off x="1143000" y="4030442"/>
            <a:ext cx="257175" cy="180936"/>
          </a:xfrm>
          <a:prstGeom prst="rect">
            <a:avLst/>
          </a:prstGeom>
          <a:noFill/>
          <a:ln>
            <a:noFill/>
          </a:ln>
        </p:spPr>
      </p:pic>
      <p:pic>
        <p:nvPicPr>
          <p:cNvPr id="10" name="Google Shape;257;p25" descr="image.png"/>
          <p:cNvPicPr preferRelativeResize="0"/>
          <p:nvPr/>
        </p:nvPicPr>
        <p:blipFill rotWithShape="1">
          <a:blip r:embed="rId7">
            <a:alphaModFix/>
          </a:blip>
          <a:srcRect/>
          <a:stretch/>
        </p:blipFill>
        <p:spPr>
          <a:xfrm>
            <a:off x="1143000" y="4544792"/>
            <a:ext cx="257175" cy="180936"/>
          </a:xfrm>
          <a:prstGeom prst="rect">
            <a:avLst/>
          </a:prstGeom>
          <a:noFill/>
          <a:ln>
            <a:noFill/>
          </a:ln>
        </p:spPr>
      </p:pic>
      <p:sp>
        <p:nvSpPr>
          <p:cNvPr id="11" name="Google Shape;258;p25"/>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Agent 3: The Writer's Job</a:t>
            </a:r>
            <a:endParaRPr/>
          </a:p>
        </p:txBody>
      </p:sp>
      <p:sp>
        <p:nvSpPr>
          <p:cNvPr id="12" name="Google Shape;259;p25"/>
          <p:cNvSpPr/>
          <p:nvPr/>
        </p:nvSpPr>
        <p:spPr>
          <a:xfrm>
            <a:off x="762000" y="647583"/>
            <a:ext cx="57150" cy="396668"/>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3685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26" descr="image.png"/>
          <p:cNvPicPr preferRelativeResize="0"/>
          <p:nvPr/>
        </p:nvPicPr>
        <p:blipFill rotWithShape="1">
          <a:blip r:embed="rId3">
            <a:alphaModFix/>
          </a:blip>
          <a:srcRect/>
          <a:stretch/>
        </p:blipFill>
        <p:spPr>
          <a:xfrm>
            <a:off x="0" y="737118"/>
            <a:ext cx="12192000" cy="5047862"/>
          </a:xfrm>
          <a:prstGeom prst="rect">
            <a:avLst/>
          </a:prstGeom>
          <a:noFill/>
          <a:ln>
            <a:noFill/>
          </a:ln>
        </p:spPr>
      </p:pic>
      <p:pic>
        <p:nvPicPr>
          <p:cNvPr id="265" name="Google Shape;265;p26" descr="image.png"/>
          <p:cNvPicPr preferRelativeResize="0"/>
          <p:nvPr/>
        </p:nvPicPr>
        <p:blipFill rotWithShape="1">
          <a:blip r:embed="rId4">
            <a:alphaModFix/>
          </a:blip>
          <a:srcRect/>
          <a:stretch/>
        </p:blipFill>
        <p:spPr>
          <a:xfrm>
            <a:off x="762000" y="2615654"/>
            <a:ext cx="5143500" cy="2455366"/>
          </a:xfrm>
          <a:prstGeom prst="rect">
            <a:avLst/>
          </a:prstGeom>
          <a:noFill/>
          <a:ln>
            <a:noFill/>
          </a:ln>
        </p:spPr>
      </p:pic>
      <p:pic>
        <p:nvPicPr>
          <p:cNvPr id="266" name="Google Shape;266;p26" descr="image.png"/>
          <p:cNvPicPr preferRelativeResize="0"/>
          <p:nvPr/>
        </p:nvPicPr>
        <p:blipFill rotWithShape="1">
          <a:blip r:embed="rId5">
            <a:alphaModFix/>
          </a:blip>
          <a:srcRect/>
          <a:stretch/>
        </p:blipFill>
        <p:spPr>
          <a:xfrm>
            <a:off x="6286500" y="2615654"/>
            <a:ext cx="5143500" cy="2455366"/>
          </a:xfrm>
          <a:prstGeom prst="rect">
            <a:avLst/>
          </a:prstGeom>
          <a:noFill/>
          <a:ln>
            <a:noFill/>
          </a:ln>
        </p:spPr>
      </p:pic>
      <p:sp>
        <p:nvSpPr>
          <p:cNvPr id="267" name="Google Shape;267;p26"/>
          <p:cNvSpPr txBox="1"/>
          <p:nvPr/>
        </p:nvSpPr>
        <p:spPr>
          <a:xfrm>
            <a:off x="1104900" y="2958554"/>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Step-by-Step Checkpointing</a:t>
            </a:r>
            <a:endParaRPr/>
          </a:p>
        </p:txBody>
      </p:sp>
      <p:sp>
        <p:nvSpPr>
          <p:cNvPr id="268" name="Google Shape;268;p26"/>
          <p:cNvSpPr txBox="1"/>
          <p:nvPr/>
        </p:nvSpPr>
        <p:spPr>
          <a:xfrm>
            <a:off x="1104900" y="3406229"/>
            <a:ext cx="44577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Imagine playing a difficult game. You save after every major level. In `agent_brain.py`, the AI writes its progress to a JSON file on disk after every step:</a:t>
            </a:r>
            <a:endParaRPr/>
          </a:p>
        </p:txBody>
      </p:sp>
      <p:pic>
        <p:nvPicPr>
          <p:cNvPr id="269" name="Google Shape;269;p26" descr="image.png"/>
          <p:cNvPicPr preferRelativeResize="0"/>
          <p:nvPr/>
        </p:nvPicPr>
        <p:blipFill rotWithShape="1">
          <a:blip r:embed="rId6">
            <a:alphaModFix/>
          </a:blip>
          <a:srcRect/>
          <a:stretch/>
        </p:blipFill>
        <p:spPr>
          <a:xfrm>
            <a:off x="1104900" y="4324350"/>
            <a:ext cx="4457700" cy="403770"/>
          </a:xfrm>
          <a:prstGeom prst="rect">
            <a:avLst/>
          </a:prstGeom>
          <a:noFill/>
          <a:ln>
            <a:noFill/>
          </a:ln>
        </p:spPr>
      </p:pic>
      <p:sp>
        <p:nvSpPr>
          <p:cNvPr id="270" name="Google Shape;270;p26"/>
          <p:cNvSpPr txBox="1"/>
          <p:nvPr/>
        </p:nvSpPr>
        <p:spPr>
          <a:xfrm>
            <a:off x="6629400" y="3070919"/>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Poppins"/>
                <a:ea typeface="Poppins"/>
                <a:cs typeface="Poppins"/>
                <a:sym typeface="Poppins"/>
              </a:rPr>
              <a:t>Resuming After a Crash</a:t>
            </a:r>
            <a:endParaRPr/>
          </a:p>
        </p:txBody>
      </p:sp>
      <p:sp>
        <p:nvSpPr>
          <p:cNvPr id="271" name="Google Shape;271;p26"/>
          <p:cNvSpPr txBox="1"/>
          <p:nvPr/>
        </p:nvSpPr>
        <p:spPr>
          <a:xfrm>
            <a:off x="6629400" y="3518594"/>
            <a:ext cx="4457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If the server loses power, times out, or run into network issues, we don't have to start over. On reboot, the script checks the saved checklist, skips finished steps, and instantly resumes from the final draft phase.</a:t>
            </a:r>
            <a:endParaRPr/>
          </a:p>
        </p:txBody>
      </p:sp>
      <p:sp>
        <p:nvSpPr>
          <p:cNvPr id="272" name="Google Shape;272;p26"/>
          <p:cNvSpPr txBox="1"/>
          <p:nvPr/>
        </p:nvSpPr>
        <p:spPr>
          <a:xfrm>
            <a:off x="952500" y="571500"/>
            <a:ext cx="1100137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0" i="0" u="none" strike="noStrike" cap="none">
                <a:solidFill>
                  <a:srgbClr val="0F172A"/>
                </a:solidFill>
                <a:latin typeface="Poppins SemiBold"/>
                <a:ea typeface="Poppins SemiBold"/>
                <a:cs typeface="Poppins SemiBold"/>
                <a:sym typeface="Poppins SemiBold"/>
              </a:rPr>
              <a:t>The AI "Save-Game" System</a:t>
            </a:r>
            <a:endParaRPr/>
          </a:p>
        </p:txBody>
      </p:sp>
      <p:sp>
        <p:nvSpPr>
          <p:cNvPr id="273" name="Google Shape;273;p26"/>
          <p:cNvSpPr/>
          <p:nvPr/>
        </p:nvSpPr>
        <p:spPr>
          <a:xfrm>
            <a:off x="762000" y="571500"/>
            <a:ext cx="57150" cy="542925"/>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2238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8;p27" descr="image.png"/>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3" name="Google Shape;278;p27" descr="image.png"/>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4" name="Google Shape;279;p27" descr="image.png"/>
          <p:cNvPicPr preferRelativeResize="0"/>
          <p:nvPr/>
        </p:nvPicPr>
        <p:blipFill rotWithShape="1">
          <a:blip r:embed="rId3">
            <a:alphaModFix/>
          </a:blip>
          <a:srcRect/>
          <a:stretch/>
        </p:blipFill>
        <p:spPr>
          <a:xfrm>
            <a:off x="3238500" y="4159448"/>
            <a:ext cx="5715000" cy="504825"/>
          </a:xfrm>
          <a:prstGeom prst="rect">
            <a:avLst/>
          </a:prstGeom>
          <a:noFill/>
          <a:ln>
            <a:noFill/>
          </a:ln>
        </p:spPr>
      </p:pic>
      <p:sp>
        <p:nvSpPr>
          <p:cNvPr id="5" name="Google Shape;280;p27"/>
          <p:cNvSpPr txBox="1"/>
          <p:nvPr/>
        </p:nvSpPr>
        <p:spPr>
          <a:xfrm>
            <a:off x="495300" y="2193577"/>
            <a:ext cx="11201400"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0" i="0" u="none" strike="noStrike" cap="none">
                <a:solidFill>
                  <a:srgbClr val="F8FAFC"/>
                </a:solidFill>
                <a:latin typeface="Poppins SemiBold"/>
                <a:ea typeface="Poppins SemiBold"/>
                <a:cs typeface="Poppins SemiBold"/>
                <a:sym typeface="Poppins SemiBold"/>
              </a:rPr>
              <a:t>Ready to Explore?</a:t>
            </a:r>
            <a:endParaRPr/>
          </a:p>
        </p:txBody>
      </p:sp>
      <p:sp>
        <p:nvSpPr>
          <p:cNvPr id="6" name="Google Shape;281;p27"/>
          <p:cNvSpPr txBox="1"/>
          <p:nvPr/>
        </p:nvSpPr>
        <p:spPr>
          <a:xfrm>
            <a:off x="762000" y="3412777"/>
            <a:ext cx="10668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94A3B8"/>
                </a:solidFill>
                <a:latin typeface="Lato"/>
                <a:ea typeface="Lato"/>
                <a:cs typeface="Lato"/>
                <a:sym typeface="Lato"/>
              </a:rPr>
              <a:t>A Beginner's Guide to Resilient Multi-Agent Memory &amp; Systems</a:t>
            </a:r>
            <a:endParaRPr dirty="0"/>
          </a:p>
        </p:txBody>
      </p:sp>
      <p:sp>
        <p:nvSpPr>
          <p:cNvPr id="7" name="Google Shape;282;p27"/>
          <p:cNvSpPr txBox="1"/>
          <p:nvPr/>
        </p:nvSpPr>
        <p:spPr>
          <a:xfrm>
            <a:off x="3395662" y="4454723"/>
            <a:ext cx="1333500" cy="209550"/>
          </a:xfrm>
          <a:prstGeom prst="rect">
            <a:avLst/>
          </a:prstGeom>
          <a:noFill/>
          <a:ln>
            <a:noFill/>
          </a:ln>
        </p:spPr>
        <p:txBody>
          <a:bodyPr spcFirstLastPara="1" wrap="square" lIns="209550" tIns="0" rIns="0" bIns="0" anchor="t" anchorCtr="0">
            <a:spAutoFit/>
          </a:bodyPr>
          <a:lstStyle/>
          <a:p>
            <a:pPr marL="0" marR="0" lvl="0" indent="0" algn="ctr" rtl="0">
              <a:spcBef>
                <a:spcPts val="0"/>
              </a:spcBef>
              <a:spcAft>
                <a:spcPts val="0"/>
              </a:spcAft>
              <a:buNone/>
            </a:pPr>
            <a:r>
              <a:rPr lang="en-US" sz="1350" b="0" i="0" u="none" strike="noStrike" cap="none">
                <a:solidFill>
                  <a:srgbClr val="64748B"/>
                </a:solidFill>
                <a:latin typeface="Lato"/>
                <a:ea typeface="Lato"/>
                <a:cs typeface="Lato"/>
                <a:sym typeface="Lato"/>
              </a:rPr>
              <a:t>agent_brain.py</a:t>
            </a:r>
            <a:endParaRPr/>
          </a:p>
        </p:txBody>
      </p:sp>
      <p:sp>
        <p:nvSpPr>
          <p:cNvPr id="8" name="Google Shape;283;p27"/>
          <p:cNvSpPr txBox="1"/>
          <p:nvPr/>
        </p:nvSpPr>
        <p:spPr>
          <a:xfrm>
            <a:off x="5014912" y="4454723"/>
            <a:ext cx="1714500" cy="209550"/>
          </a:xfrm>
          <a:prstGeom prst="rect">
            <a:avLst/>
          </a:prstGeom>
          <a:noFill/>
          <a:ln>
            <a:noFill/>
          </a:ln>
        </p:spPr>
        <p:txBody>
          <a:bodyPr spcFirstLastPara="1" wrap="square" lIns="247650" tIns="0" rIns="0" bIns="0" anchor="t" anchorCtr="0">
            <a:spAutoFit/>
          </a:bodyPr>
          <a:lstStyle/>
          <a:p>
            <a:pPr marL="0" marR="0" lvl="0" indent="0" algn="ctr" rtl="0">
              <a:spcBef>
                <a:spcPts val="0"/>
              </a:spcBef>
              <a:spcAft>
                <a:spcPts val="0"/>
              </a:spcAft>
              <a:buNone/>
            </a:pPr>
            <a:r>
              <a:rPr lang="en-US" sz="1350" b="0" i="0" u="none" strike="noStrike" cap="none">
                <a:solidFill>
                  <a:srgbClr val="64748B"/>
                </a:solidFill>
                <a:latin typeface="Lato"/>
                <a:ea typeface="Lato"/>
                <a:cs typeface="Lato"/>
                <a:sym typeface="Lato"/>
              </a:rPr>
              <a:t>knowledge_base.py</a:t>
            </a:r>
            <a:endParaRPr/>
          </a:p>
        </p:txBody>
      </p:sp>
      <p:sp>
        <p:nvSpPr>
          <p:cNvPr id="9" name="Google Shape;284;p27"/>
          <p:cNvSpPr txBox="1"/>
          <p:nvPr/>
        </p:nvSpPr>
        <p:spPr>
          <a:xfrm>
            <a:off x="7015162" y="4454723"/>
            <a:ext cx="1781175" cy="209550"/>
          </a:xfrm>
          <a:prstGeom prst="rect">
            <a:avLst/>
          </a:prstGeom>
          <a:noFill/>
          <a:ln>
            <a:noFill/>
          </a:ln>
        </p:spPr>
        <p:txBody>
          <a:bodyPr spcFirstLastPara="1" wrap="square" lIns="295275" tIns="0" rIns="0" bIns="0" anchor="t" anchorCtr="0">
            <a:spAutoFit/>
          </a:bodyPr>
          <a:lstStyle/>
          <a:p>
            <a:pPr marL="0" marR="0" lvl="0" indent="0" algn="ctr" rtl="0">
              <a:spcBef>
                <a:spcPts val="0"/>
              </a:spcBef>
              <a:spcAft>
                <a:spcPts val="0"/>
              </a:spcAft>
              <a:buNone/>
            </a:pPr>
            <a:r>
              <a:rPr lang="en-US" sz="1350" b="0" i="0" u="none" strike="noStrike" cap="none">
                <a:solidFill>
                  <a:srgbClr val="64748B"/>
                </a:solidFill>
                <a:latin typeface="Lato"/>
                <a:ea typeface="Lato"/>
                <a:cs typeface="Lato"/>
                <a:sym typeface="Lato"/>
              </a:rPr>
              <a:t>GraphRAG Pipeline</a:t>
            </a:r>
            <a:endParaRPr/>
          </a:p>
        </p:txBody>
      </p:sp>
      <p:pic>
        <p:nvPicPr>
          <p:cNvPr id="10" name="Google Shape;285;p27" descr="image.png"/>
          <p:cNvPicPr preferRelativeResize="0"/>
          <p:nvPr/>
        </p:nvPicPr>
        <p:blipFill rotWithShape="1">
          <a:blip r:embed="rId4">
            <a:alphaModFix/>
          </a:blip>
          <a:srcRect/>
          <a:stretch/>
        </p:blipFill>
        <p:spPr>
          <a:xfrm>
            <a:off x="3395662" y="4483298"/>
            <a:ext cx="133350" cy="171450"/>
          </a:xfrm>
          <a:prstGeom prst="rect">
            <a:avLst/>
          </a:prstGeom>
          <a:noFill/>
          <a:ln>
            <a:noFill/>
          </a:ln>
        </p:spPr>
      </p:pic>
      <p:pic>
        <p:nvPicPr>
          <p:cNvPr id="11" name="Google Shape;286;p27" descr="image.png"/>
          <p:cNvPicPr preferRelativeResize="0"/>
          <p:nvPr/>
        </p:nvPicPr>
        <p:blipFill rotWithShape="1">
          <a:blip r:embed="rId5">
            <a:alphaModFix/>
          </a:blip>
          <a:srcRect/>
          <a:stretch/>
        </p:blipFill>
        <p:spPr>
          <a:xfrm>
            <a:off x="5014912" y="4483298"/>
            <a:ext cx="171450" cy="171450"/>
          </a:xfrm>
          <a:prstGeom prst="rect">
            <a:avLst/>
          </a:prstGeom>
          <a:noFill/>
          <a:ln>
            <a:noFill/>
          </a:ln>
        </p:spPr>
      </p:pic>
      <p:pic>
        <p:nvPicPr>
          <p:cNvPr id="12" name="Google Shape;287;p27" descr="image.png"/>
          <p:cNvPicPr preferRelativeResize="0"/>
          <p:nvPr/>
        </p:nvPicPr>
        <p:blipFill rotWithShape="1">
          <a:blip r:embed="rId6">
            <a:alphaModFix/>
          </a:blip>
          <a:srcRect/>
          <a:stretch/>
        </p:blipFill>
        <p:spPr>
          <a:xfrm>
            <a:off x="7015162" y="4483298"/>
            <a:ext cx="219075" cy="171450"/>
          </a:xfrm>
          <a:prstGeom prst="rect">
            <a:avLst/>
          </a:prstGeom>
          <a:noFill/>
          <a:ln>
            <a:noFill/>
          </a:ln>
        </p:spPr>
      </p:pic>
    </p:spTree>
    <p:extLst>
      <p:ext uri="{BB962C8B-B14F-4D97-AF65-F5344CB8AC3E}">
        <p14:creationId xmlns:p14="http://schemas.microsoft.com/office/powerpoint/2010/main" val="1089095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245851"/>
      </p:ext>
    </p:extLst>
  </p:cSld>
  <p:clrMapOvr>
    <a:masterClrMapping/>
  </p:clrMapOvr>
</p:sld>
</file>

<file path=ppt/theme/theme1.xml><?xml version="1.0" encoding="utf-8"?>
<a:theme xmlns:a="http://schemas.openxmlformats.org/drawingml/2006/main" name="Theme">
  <a:themeElements>
    <a:clrScheme name="Palette v1">
      <a:dk1>
        <a:srgbClr val="000000"/>
      </a:dk1>
      <a:lt1>
        <a:srgbClr val="FFFFFF"/>
      </a:lt1>
      <a:dk2>
        <a:srgbClr val="5E5E5E"/>
      </a:dk2>
      <a:lt2>
        <a:srgbClr val="D5D5D5"/>
      </a:lt2>
      <a:accent1>
        <a:srgbClr val="263853"/>
      </a:accent1>
      <a:accent2>
        <a:srgbClr val="5F7D61"/>
      </a:accent2>
      <a:accent3>
        <a:srgbClr val="BD69AB"/>
      </a:accent3>
      <a:accent4>
        <a:srgbClr val="A8CCDD"/>
      </a:accent4>
      <a:accent5>
        <a:srgbClr val="A3238E"/>
      </a:accent5>
      <a:accent6>
        <a:srgbClr val="C6E3C5"/>
      </a:accent6>
      <a:hlink>
        <a:srgbClr val="2283C6"/>
      </a:hlink>
      <a:folHlink>
        <a:srgbClr val="2283C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71C52224E98640BDB68545545EA2BE" ma:contentTypeVersion="15" ma:contentTypeDescription="Create a new document." ma:contentTypeScope="" ma:versionID="b84191e4a8289540c8172e94c63fca09">
  <xsd:schema xmlns:xsd="http://www.w3.org/2001/XMLSchema" xmlns:xs="http://www.w3.org/2001/XMLSchema" xmlns:p="http://schemas.microsoft.com/office/2006/metadata/properties" xmlns:ns2="18951236-19c8-4571-8ee4-8dc6889a8234" xmlns:ns3="09989fab-c57c-4a8b-ad2f-f15a6997ea51" xmlns:ns4="1cd473a6-6c02-476c-b15c-e076f6bc404a" targetNamespace="http://schemas.microsoft.com/office/2006/metadata/properties" ma:root="true" ma:fieldsID="3171475f0a6042d6fabe6abfc1ffa731" ns2:_="" ns3:_="" ns4:_="">
    <xsd:import namespace="18951236-19c8-4571-8ee4-8dc6889a8234"/>
    <xsd:import namespace="09989fab-c57c-4a8b-ad2f-f15a6997ea51"/>
    <xsd:import namespace="1cd473a6-6c02-476c-b15c-e076f6bc40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951236-19c8-4571-8ee4-8dc6889a82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c80516-e980-40cf-bd5d-acbbe999e07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89fab-c57c-4a8b-ad2f-f15a6997ea5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d473a6-6c02-476c-b15c-e076f6bc404a"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f5a4064f-0f42-4235-aab2-2014deffacb2}" ma:internalName="TaxCatchAll" ma:showField="CatchAllData" ma:web="1cd473a6-6c02-476c-b15c-e076f6bc40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cd473a6-6c02-476c-b15c-e076f6bc404a" xsi:nil="true"/>
    <SharedWithUsers xmlns="09989fab-c57c-4a8b-ad2f-f15a6997ea51">
      <UserInfo>
        <DisplayName>Mallory Hill</DisplayName>
        <AccountId>5131</AccountId>
        <AccountType/>
      </UserInfo>
      <UserInfo>
        <DisplayName>Pixie Kolesa</DisplayName>
        <AccountId>6899</AccountId>
        <AccountType/>
      </UserInfo>
      <UserInfo>
        <DisplayName>Kirsten Rider</DisplayName>
        <AccountId>2163</AccountId>
        <AccountType/>
      </UserInfo>
    </SharedWithUsers>
    <lcf76f155ced4ddcb4097134ff3c332f xmlns="18951236-19c8-4571-8ee4-8dc6889a8234">
      <Terms xmlns="http://schemas.microsoft.com/office/infopath/2007/PartnerControls"/>
    </lcf76f155ced4ddcb4097134ff3c332f>
    <MediaLengthInSeconds xmlns="18951236-19c8-4571-8ee4-8dc6889a8234" xsi:nil="true"/>
  </documentManagement>
</p:properties>
</file>

<file path=customXml/itemProps1.xml><?xml version="1.0" encoding="utf-8"?>
<ds:datastoreItem xmlns:ds="http://schemas.openxmlformats.org/officeDocument/2006/customXml" ds:itemID="{EE9EC30B-5FCF-4C2E-99A9-6415921585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951236-19c8-4571-8ee4-8dc6889a8234"/>
    <ds:schemaRef ds:uri="09989fab-c57c-4a8b-ad2f-f15a6997ea51"/>
    <ds:schemaRef ds:uri="1cd473a6-6c02-476c-b15c-e076f6bc40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00966F5-FEBF-429F-BA4F-9EAA27C56465}">
  <ds:schemaRefs>
    <ds:schemaRef ds:uri="http://schemas.microsoft.com/sharepoint/v3/contenttype/forms"/>
  </ds:schemaRefs>
</ds:datastoreItem>
</file>

<file path=customXml/itemProps3.xml><?xml version="1.0" encoding="utf-8"?>
<ds:datastoreItem xmlns:ds="http://schemas.openxmlformats.org/officeDocument/2006/customXml" ds:itemID="{8EF7DDB2-0487-48C2-B370-81C201D31998}">
  <ds:schemaRefs>
    <ds:schemaRef ds:uri="http://purl.org/dc/elements/1.1/"/>
    <ds:schemaRef ds:uri="1cd473a6-6c02-476c-b15c-e076f6bc404a"/>
    <ds:schemaRef ds:uri="http://schemas.microsoft.com/office/infopath/2007/PartnerControls"/>
    <ds:schemaRef ds:uri="http://purl.org/dc/dcmitype/"/>
    <ds:schemaRef ds:uri="http://schemas.microsoft.com/office/2006/documentManagement/types"/>
    <ds:schemaRef ds:uri="http://purl.org/dc/terms/"/>
    <ds:schemaRef ds:uri="09989fab-c57c-4a8b-ad2f-f15a6997ea51"/>
    <ds:schemaRef ds:uri="http://schemas.microsoft.com/office/2006/metadata/properties"/>
    <ds:schemaRef ds:uri="http://schemas.openxmlformats.org/package/2006/metadata/core-properties"/>
    <ds:schemaRef ds:uri="18951236-19c8-4571-8ee4-8dc6889a8234"/>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985</TotalTime>
  <Words>1046</Words>
  <Application>Microsoft Office PowerPoint</Application>
  <PresentationFormat>Widescreen</PresentationFormat>
  <Paragraphs>87</Paragraphs>
  <Slides>17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Lato</vt:lpstr>
      <vt:lpstr>Poppins</vt:lpstr>
      <vt:lpstr>Poppins SemiBold</vt:lpstr>
      <vt:lpstr>Tw Cen MT</vt:lpstr>
      <vt:lpstr>Theme</vt:lpstr>
      <vt:lpstr>Agentic AI Bootcamp Roadmap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Tammy Cornejo</dc:creator>
  <cp:lastModifiedBy>CHARUSAT</cp:lastModifiedBy>
  <cp:revision>42</cp:revision>
  <dcterms:created xsi:type="dcterms:W3CDTF">2023-01-04T15:04:56Z</dcterms:created>
  <dcterms:modified xsi:type="dcterms:W3CDTF">2026-06-18T10:45:34Z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0x0101009271C52224E98640BDB68545545EA2BE</vt:lpwstr>
  </property>
  <property fmtid="{D5CDD505-2E9C-101B-9397-08002B2CF9AE}" pid="3" name="MediaServiceImageTags">
    <vt:lpwstr/>
  </property>
  <property fmtid="{D5CDD505-2E9C-101B-9397-08002B2CF9AE}" pid="4" name="Order">
    <vt:r8>3098300</vt:r8>
  </property>
  <property fmtid="{D5CDD505-2E9C-101B-9397-08002B2CF9AE}" pid="5" name="xd_Signature">
    <vt:bool>false</vt:bool>
  </property>
  <property fmtid="{D5CDD505-2E9C-101B-9397-08002B2CF9AE}" pid="6" name="SharedWithUsers">
    <vt:lpwstr>5131;#Mallory Hill;#6899;#Pixie Kolesa;#2163;#Kirsten Rider</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